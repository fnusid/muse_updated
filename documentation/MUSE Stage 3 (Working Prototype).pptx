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7023100" cy="9309100"/>
  <p:embeddedFontLst>
    <p:embeddedFont>
      <p:font typeface="Garamond"/>
      <p:regular r:id="rId17"/>
      <p:bold r:id="rId18"/>
      <p:italic r:id="rId19"/>
      <p:boldItalic r:id="rId20"/>
    </p:embeddedFont>
    <p:embeddedFont>
      <p:font typeface="Helvetica Neue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aramond-boldItalic.fntdata"/><Relationship Id="rId11" Type="http://schemas.openxmlformats.org/officeDocument/2006/relationships/slide" Target="slides/slide6.xml"/><Relationship Id="rId22" Type="http://schemas.openxmlformats.org/officeDocument/2006/relationships/font" Target="fonts/HelveticaNeue-bold.fntdata"/><Relationship Id="rId10" Type="http://schemas.openxmlformats.org/officeDocument/2006/relationships/slide" Target="slides/slide5.xml"/><Relationship Id="rId21" Type="http://schemas.openxmlformats.org/officeDocument/2006/relationships/font" Target="fonts/HelveticaNeue-regular.fntdata"/><Relationship Id="rId13" Type="http://schemas.openxmlformats.org/officeDocument/2006/relationships/slide" Target="slides/slide8.xml"/><Relationship Id="rId24" Type="http://schemas.openxmlformats.org/officeDocument/2006/relationships/font" Target="fonts/HelveticaNeue-boldItalic.fntdata"/><Relationship Id="rId12" Type="http://schemas.openxmlformats.org/officeDocument/2006/relationships/slide" Target="slides/slide7.xml"/><Relationship Id="rId23" Type="http://schemas.openxmlformats.org/officeDocument/2006/relationships/font" Target="fonts/HelveticaNeue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Garamond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Garamond-italic.fntdata"/><Relationship Id="rId6" Type="http://schemas.openxmlformats.org/officeDocument/2006/relationships/slide" Target="slides/slide1.xml"/><Relationship Id="rId18" Type="http://schemas.openxmlformats.org/officeDocument/2006/relationships/font" Target="fonts/Garamon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44970" cy="463392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6505" y="0"/>
            <a:ext cx="3044970" cy="463392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7450" y="700088"/>
            <a:ext cx="4649788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3937" y="4422855"/>
            <a:ext cx="5615229" cy="41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42534"/>
            <a:ext cx="3044970" cy="464979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6505" y="8842534"/>
            <a:ext cx="3044970" cy="464979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efaddd3d4_0_1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7efaddd3d4_0_1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d67a88247_0_0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d67a88247_0_0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8d67a88247_0_0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d67a8828c_1_69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d67a8828c_1_69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Data Handling</a:t>
            </a:r>
            <a:endParaRPr b="1"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"First, we must </a:t>
            </a:r>
            <a:r>
              <a:rPr b="1"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Upload Audio Files</a:t>
            </a:r>
            <a:r>
              <a:rPr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(like MP3, WAV) from the user's device. And critically, the system must </a:t>
            </a:r>
            <a:r>
              <a:rPr b="1"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Separate audio into components</a:t>
            </a:r>
            <a:r>
              <a:rPr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—the individual stems—before mixing can occur."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Mixing &amp; Control</a:t>
            </a:r>
            <a:endParaRPr b="1"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"Next, the user needs to </a:t>
            </a:r>
            <a:r>
              <a:rPr b="1"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Adjust individual track levels</a:t>
            </a:r>
            <a:r>
              <a:rPr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through the interface, such as sliders. This gives the AI—and the user—direct control."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Gesture with hands like you're turning a knob.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Real-Time</a:t>
            </a:r>
            <a:endParaRPr b="1"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"The most challenging requirement is providing a </a:t>
            </a:r>
            <a:r>
              <a:rPr b="1"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real-time preview of adjustments before exporting</a:t>
            </a:r>
            <a:r>
              <a:rPr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. Low latency is key; the user must hear the change instantly."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Persistence</a:t>
            </a:r>
            <a:endParaRPr b="1"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"Finally, for personalization to be meaningful, the system must </a:t>
            </a:r>
            <a:r>
              <a:rPr b="1"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Save the setting for future use</a:t>
            </a:r>
            <a:r>
              <a:rPr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, allowing profiles to be applied to new songs."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"But a powerful tool must also be easy to use. That brings us to the User Experience."</a:t>
            </a:r>
            <a:endParaRPr/>
          </a:p>
        </p:txBody>
      </p:sp>
      <p:sp>
        <p:nvSpPr>
          <p:cNvPr id="95" name="Google Shape;95;g38d67a8828c_1_69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d67a8828c_1_77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d67a8828c_1_77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Simplicity</a:t>
            </a:r>
            <a:endParaRPr b="1"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"The interface must be </a:t>
            </a:r>
            <a:r>
              <a:rPr b="1"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simple and intuitive</a:t>
            </a:r>
            <a:r>
              <a:rPr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. We </a:t>
            </a:r>
            <a:r>
              <a:rPr b="1"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maintained a clean, uncluttered layout</a:t>
            </a:r>
            <a:r>
              <a:rPr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that highlights only the main controls."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Responsiveness</a:t>
            </a:r>
            <a:endParaRPr b="1"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"We must </a:t>
            </a:r>
            <a:r>
              <a:rPr b="1"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Provide immediate visual and auditory feedback</a:t>
            </a:r>
            <a:r>
              <a:rPr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when adjustments are made. This confirms the system is responding. And the interaction must be </a:t>
            </a:r>
            <a:r>
              <a:rPr b="1"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smooth, low-latency</a:t>
            </a:r>
            <a:r>
              <a:rPr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for real-time control."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Accessibility</a:t>
            </a:r>
            <a:endParaRPr b="1"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"Finally, we focus on accessibility: we need to </a:t>
            </a:r>
            <a:r>
              <a:rPr b="1"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Support users with different hearing needs</a:t>
            </a:r>
            <a:r>
              <a:rPr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through clear visuals and contrast options."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8d67a8828c_1_77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c8df3ab38_3_4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c8df3ab38_3_4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1. Introduction: The Personalization Pipeline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"This slide illustrates the technical pipeline for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User Personalization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—how our AI actually learns a user's taste and predicts the best mix for a brand-new song."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2. The Input Data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"The personalization relies on two main inputs feeding the system:"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User Data (History &amp; Choices):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"On the left, we have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User Data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 This is crucial: it captures the user's past choices and mix adjustments—the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Ground Truth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—that the model uses to learn their preference patterns."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New Music: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"The system is processing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New Music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which is the track we need to personalize."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3. Feature Extraction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"The new music first goes through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Audio Feature Extraction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"Here, we use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Audio APIs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to pull relevant musical features, such as the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Duration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SampleRate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RMS (Root Mean Square)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Tempo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of the track."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"These features represent the objective characteristics of the new song that the AI needs to analyze."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4. The Model Training and Inference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"The extracted features and the user's historical data converge at the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Personalization Model Training (MLP)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"The model is typically a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Multi-Layer Perceptron (MLP)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which takes the audio features and the user's learned preferences (from the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Ground Truth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feedback loop) to make a prediction."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"Once trained, the model performs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Inference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on the new music."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5. The Prediction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"The final output is the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Prediction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for the New Music."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"This prediction is a set of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separated settings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—the optimal fader levels (loudness) for the vocals, drums, bass, and other stems for that specific song, tailored to that specific user."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"This output then feeds back into the mixing engine (as shown in our Recap slide) to create the final personalized audio."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ac8df3ab38_3_4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009886556_0_0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009886556_0_0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a009886556_0_0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c8df3ab38_0_0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c8df3ab38_0_0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ac8df3ab38_0_0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c8df3ab38_0_11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c8df3ab38_0_11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ac8df3ab38_0_11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cb9b88b6c_1_0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cb9b88b6c_1_0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acb9b88b6c_1_0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cb9b88b6c_1_7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cb9b88b6c_1_7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acb9b88b6c_1_7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009886556_0_93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009886556_0_93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a009886556_0_93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1736725"/>
            <a:ext cx="7772400" cy="1920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SzPts val="196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24840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25157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254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69900" y="63500"/>
            <a:ext cx="842813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69900" y="1600200"/>
            <a:ext cx="82169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69900" y="63500"/>
            <a:ext cx="842813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▪"/>
              <a:defRPr sz="2800"/>
            </a:lvl1pPr>
            <a:lvl2pPr indent="-335280" lvl="1" marL="914400" algn="l">
              <a:spcBef>
                <a:spcPts val="480"/>
              </a:spcBef>
              <a:spcAft>
                <a:spcPts val="0"/>
              </a:spcAft>
              <a:buSzPts val="1680"/>
              <a:buChar char="•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▪"/>
              <a:defRPr sz="2000"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 sz="1800"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 sz="1800"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▪"/>
              <a:defRPr sz="2800"/>
            </a:lvl1pPr>
            <a:lvl2pPr indent="-335280" lvl="1" marL="914400" algn="l">
              <a:spcBef>
                <a:spcPts val="480"/>
              </a:spcBef>
              <a:spcAft>
                <a:spcPts val="0"/>
              </a:spcAft>
              <a:buSzPts val="1680"/>
              <a:buChar char="•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▪"/>
              <a:defRPr sz="2000"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 sz="1800"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 sz="1800"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69900" y="63500"/>
            <a:ext cx="842813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▪"/>
              <a:defRPr sz="2400"/>
            </a:lvl1pPr>
            <a:lvl2pPr indent="-317500" lvl="1" marL="914400" algn="l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 sz="1800"/>
            </a:lvl3pPr>
            <a:lvl4pPr indent="-299719" lvl="3" marL="1828800" algn="l">
              <a:spcBef>
                <a:spcPts val="320"/>
              </a:spcBef>
              <a:spcAft>
                <a:spcPts val="0"/>
              </a:spcAft>
              <a:buSzPts val="1120"/>
              <a:buChar char="•"/>
              <a:defRPr sz="1600"/>
            </a:lvl4pPr>
            <a:lvl5pPr indent="-299720" lvl="4" marL="2286000" algn="l">
              <a:spcBef>
                <a:spcPts val="320"/>
              </a:spcBef>
              <a:spcAft>
                <a:spcPts val="0"/>
              </a:spcAft>
              <a:buSzPts val="1120"/>
              <a:buChar char="▪"/>
              <a:defRPr sz="1600"/>
            </a:lvl5pPr>
            <a:lvl6pPr indent="-299720" lvl="5" marL="27432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6pPr>
            <a:lvl7pPr indent="-299720" lvl="6" marL="32004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7pPr>
            <a:lvl8pPr indent="-299720" lvl="7" marL="36576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8pPr>
            <a:lvl9pPr indent="-299720" lvl="8" marL="41148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9pPr>
          </a:lstStyle>
          <a:p/>
        </p:txBody>
      </p:sp>
      <p:sp>
        <p:nvSpPr>
          <p:cNvPr id="41" name="Google Shape;41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42" name="Google Shape;42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▪"/>
              <a:defRPr sz="2400"/>
            </a:lvl1pPr>
            <a:lvl2pPr indent="-317500" lvl="1" marL="914400" algn="l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 sz="1800"/>
            </a:lvl3pPr>
            <a:lvl4pPr indent="-299719" lvl="3" marL="1828800" algn="l">
              <a:spcBef>
                <a:spcPts val="320"/>
              </a:spcBef>
              <a:spcAft>
                <a:spcPts val="0"/>
              </a:spcAft>
              <a:buSzPts val="1120"/>
              <a:buChar char="•"/>
              <a:defRPr sz="1600"/>
            </a:lvl4pPr>
            <a:lvl5pPr indent="-299720" lvl="4" marL="2286000" algn="l">
              <a:spcBef>
                <a:spcPts val="320"/>
              </a:spcBef>
              <a:spcAft>
                <a:spcPts val="0"/>
              </a:spcAft>
              <a:buSzPts val="1120"/>
              <a:buChar char="▪"/>
              <a:defRPr sz="1600"/>
            </a:lvl5pPr>
            <a:lvl6pPr indent="-299720" lvl="5" marL="27432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6pPr>
            <a:lvl7pPr indent="-299720" lvl="6" marL="32004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7pPr>
            <a:lvl8pPr indent="-299720" lvl="7" marL="36576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8pPr>
            <a:lvl9pPr indent="-299720" lvl="8" marL="41148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69900" y="63500"/>
            <a:ext cx="842813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51" name="Google Shape;51;p8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spcBef>
                <a:spcPts val="640"/>
              </a:spcBef>
              <a:spcAft>
                <a:spcPts val="0"/>
              </a:spcAft>
              <a:buSzPts val="2240"/>
              <a:buChar char="▪"/>
              <a:defRPr sz="3200"/>
            </a:lvl1pPr>
            <a:lvl2pPr indent="-353060" lvl="1" marL="914400" algn="l">
              <a:spcBef>
                <a:spcPts val="560"/>
              </a:spcBef>
              <a:spcAft>
                <a:spcPts val="0"/>
              </a:spcAft>
              <a:buSzPts val="1960"/>
              <a:buChar char="•"/>
              <a:defRPr sz="28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▪"/>
              <a:defRPr sz="2400"/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SzPts val="1400"/>
              <a:buChar char="▪"/>
              <a:defRPr sz="2000"/>
            </a:lvl5pPr>
            <a:lvl6pPr indent="-317500" lvl="5" marL="2743200" algn="l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6pPr>
            <a:lvl7pPr indent="-317500" lvl="6" marL="3200400" algn="l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7pPr>
            <a:lvl8pPr indent="-317500" lvl="7" marL="3657600" algn="l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8pPr>
            <a:lvl9pPr indent="-317500" lvl="8" marL="4114800" algn="l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56" name="Google Shape;56;p9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rgbClr val="054C84"/>
              </a:buClr>
              <a:buSzPts val="2240"/>
              <a:buFont typeface="Noto Sans Symbols"/>
              <a:buNone/>
              <a:defRPr b="0" i="0" sz="32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rgbClr val="054C84"/>
              </a:buClr>
              <a:buSzPts val="1960"/>
              <a:buFont typeface="Arial"/>
              <a:buNone/>
              <a:defRPr b="0" i="0" sz="28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rgbClr val="054C84"/>
              </a:buClr>
              <a:buSzPts val="1680"/>
              <a:buFont typeface="Noto Sans Symbols"/>
              <a:buNone/>
              <a:defRPr b="0" i="0" sz="24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rgbClr val="054C84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rgbClr val="054C84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469900" y="63500"/>
            <a:ext cx="842813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2315368" y="-245269"/>
            <a:ext cx="4525963" cy="8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73" name="Google Shape;73;p12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" type="body"/>
          </p:nvPr>
        </p:nvSpPr>
        <p:spPr>
          <a:xfrm>
            <a:off x="469900" y="1600200"/>
            <a:ext cx="82169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054C84"/>
              </a:buClr>
              <a:buSzPts val="1960"/>
              <a:buFont typeface="Noto Sans Symbols"/>
              <a:buChar char="▪"/>
              <a:defRPr b="0" i="0" sz="28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80" lvl="1" marL="914400" marR="0" rtl="0" algn="l">
              <a:spcBef>
                <a:spcPts val="480"/>
              </a:spcBef>
              <a:spcAft>
                <a:spcPts val="0"/>
              </a:spcAft>
              <a:buClr>
                <a:srgbClr val="054C84"/>
              </a:buClr>
              <a:buSzPts val="1680"/>
              <a:buFont typeface="Arial"/>
              <a:buChar char="•"/>
              <a:defRPr b="0" i="0" sz="24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400"/>
              </a:spcBef>
              <a:spcAft>
                <a:spcPts val="0"/>
              </a:spcAft>
              <a:buClr>
                <a:srgbClr val="054C84"/>
              </a:buClr>
              <a:buSzPts val="1400"/>
              <a:buFont typeface="Noto Sans Symbols"/>
              <a:buChar char="▪"/>
              <a:defRPr b="0" i="0" sz="20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054C84"/>
              </a:buClr>
              <a:buSzPts val="1200"/>
              <a:buFont typeface="Arial"/>
              <a:buChar char="•"/>
              <a:defRPr b="0" i="0" sz="18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054C84"/>
              </a:buClr>
              <a:buSzPts val="1200"/>
              <a:buFont typeface="Noto Sans Symbols"/>
              <a:buChar char="▪"/>
              <a:defRPr b="0" i="0" sz="18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Char char="■"/>
              <a:defRPr i="0" sz="1800" u="none" cap="none" strike="noStrike">
                <a:solidFill>
                  <a:schemeClr val="dk1"/>
                </a:solidFill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Char char="■"/>
              <a:defRPr i="0" sz="1800" u="none" cap="none" strike="noStrike">
                <a:solidFill>
                  <a:schemeClr val="dk1"/>
                </a:solidFill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Char char="■"/>
              <a:defRPr i="0" sz="1800" u="none" cap="none" strike="noStrike">
                <a:solidFill>
                  <a:schemeClr val="dk1"/>
                </a:solidFill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Char char="■"/>
              <a:defRPr i="0" sz="18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469900" y="63500"/>
            <a:ext cx="842813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514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2" name="Google Shape;12;p1"/>
          <p:cNvSpPr/>
          <p:nvPr/>
        </p:nvSpPr>
        <p:spPr>
          <a:xfrm>
            <a:off x="-50800" y="6356093"/>
            <a:ext cx="9245600" cy="522228"/>
          </a:xfrm>
          <a:prstGeom prst="rect">
            <a:avLst/>
          </a:prstGeom>
          <a:solidFill>
            <a:srgbClr val="0722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13" name="Google Shape;13;p1"/>
          <p:cNvCxnSpPr/>
          <p:nvPr/>
        </p:nvCxnSpPr>
        <p:spPr>
          <a:xfrm>
            <a:off x="-50800" y="6345143"/>
            <a:ext cx="9245600" cy="0"/>
          </a:xfrm>
          <a:prstGeom prst="straightConnector1">
            <a:avLst/>
          </a:prstGeom>
          <a:noFill/>
          <a:ln cap="flat" cmpd="sng" w="38100">
            <a:solidFill>
              <a:srgbClr val="F8D71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pic>
        <p:nvPicPr>
          <p:cNvPr descr="CSE-marketing-formal-tall-rev.png" id="14" name="Google Shape;14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06738" y="6470122"/>
            <a:ext cx="2930525" cy="29368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mpedstudio.com/ai-in-music/" TargetMode="External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/>
          <p:nvPr/>
        </p:nvSpPr>
        <p:spPr>
          <a:xfrm>
            <a:off x="225050" y="1001875"/>
            <a:ext cx="8267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400"/>
              <a:t>MUSE - M</a:t>
            </a:r>
            <a:r>
              <a:rPr lang="en-US" sz="3400"/>
              <a:t>achine</a:t>
            </a:r>
            <a:r>
              <a:rPr b="1" lang="en-US" sz="3400"/>
              <a:t> </a:t>
            </a:r>
            <a:r>
              <a:rPr lang="en-US" sz="3400"/>
              <a:t>enhanced</a:t>
            </a:r>
            <a:r>
              <a:rPr b="1" lang="en-US" sz="3400"/>
              <a:t> U</a:t>
            </a:r>
            <a:r>
              <a:rPr lang="en-US" sz="3400"/>
              <a:t>ser</a:t>
            </a:r>
            <a:r>
              <a:rPr b="1" lang="en-US" sz="3400"/>
              <a:t> S</a:t>
            </a:r>
            <a:r>
              <a:rPr lang="en-US" sz="3400"/>
              <a:t>ound</a:t>
            </a:r>
            <a:r>
              <a:rPr b="1" lang="en-US" sz="3400"/>
              <a:t> E</a:t>
            </a:r>
            <a:r>
              <a:rPr lang="en-US" sz="3400"/>
              <a:t>xperience</a:t>
            </a:r>
            <a:endParaRPr sz="3100">
              <a:solidFill>
                <a:srgbClr val="000514"/>
              </a:solidFill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3075525" y="3687625"/>
            <a:ext cx="571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66666"/>
                </a:solidFill>
              </a:rPr>
              <a:t>Shivam Arora</a:t>
            </a:r>
            <a:r>
              <a:rPr b="1" lang="en-US" sz="1600">
                <a:solidFill>
                  <a:srgbClr val="666666"/>
                </a:solidFill>
              </a:rPr>
              <a:t>, </a:t>
            </a:r>
            <a:r>
              <a:rPr b="1" lang="en-US" sz="1800">
                <a:solidFill>
                  <a:srgbClr val="666666"/>
                </a:solidFill>
              </a:rPr>
              <a:t>Aman Soni</a:t>
            </a:r>
            <a:r>
              <a:rPr b="1" lang="en-US" sz="1600">
                <a:solidFill>
                  <a:srgbClr val="666666"/>
                </a:solidFill>
              </a:rPr>
              <a:t>, </a:t>
            </a:r>
            <a:r>
              <a:rPr b="1" lang="en-US" sz="1800">
                <a:solidFill>
                  <a:srgbClr val="666666"/>
                </a:solidFill>
              </a:rPr>
              <a:t>Zubair Qazi</a:t>
            </a:r>
            <a:r>
              <a:rPr b="1" lang="en-US" sz="1600">
                <a:solidFill>
                  <a:srgbClr val="666666"/>
                </a:solidFill>
              </a:rPr>
              <a:t>, </a:t>
            </a:r>
            <a:r>
              <a:rPr b="1" lang="en-US" sz="1800">
                <a:solidFill>
                  <a:srgbClr val="666666"/>
                </a:solidFill>
              </a:rPr>
              <a:t>Sidharth</a:t>
            </a:r>
            <a:endParaRPr b="1" baseline="30000"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51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514"/>
              </a:solidFill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3075525" y="4364725"/>
            <a:ext cx="5456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666666"/>
                </a:solidFill>
              </a:rPr>
              <a:t>Department of CSE, University of Michigan, Ann Arbor</a:t>
            </a:r>
            <a:endParaRPr b="1"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666666"/>
              </a:solidFill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5491950" y="357172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666666"/>
              </a:solidFill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98688" y="4364725"/>
            <a:ext cx="23034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514"/>
                </a:solidFill>
              </a:rPr>
              <a:t>Image taken from </a:t>
            </a:r>
            <a:r>
              <a:rPr lang="en-US" sz="1000" u="sng">
                <a:solidFill>
                  <a:schemeClr val="hlink"/>
                </a:solidFill>
                <a:hlinkClick r:id="rId3"/>
              </a:rPr>
              <a:t>https://ampedstudio.com/ai-in-music/</a:t>
            </a:r>
            <a:endParaRPr sz="1000">
              <a:solidFill>
                <a:srgbClr val="000514"/>
              </a:solidFill>
            </a:endParaRPr>
          </a:p>
        </p:txBody>
      </p:sp>
      <p:pic>
        <p:nvPicPr>
          <p:cNvPr id="83" name="Google Shape;8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688" y="2614925"/>
            <a:ext cx="2713537" cy="166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Recap</a:t>
            </a:r>
            <a:endParaRPr/>
          </a:p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463500" y="1165950"/>
            <a:ext cx="821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8610" lvl="0" marL="457200" rtl="0" algn="l">
              <a:spcBef>
                <a:spcPts val="360"/>
              </a:spcBef>
              <a:spcAft>
                <a:spcPts val="0"/>
              </a:spcAft>
              <a:buSzPts val="1260"/>
              <a:buChar char="-"/>
            </a:pPr>
            <a:r>
              <a:rPr lang="en-US"/>
              <a:t>Design a personalized AI music mixing software to personalize music to users</a:t>
            </a:r>
            <a:br>
              <a:rPr lang="en-US"/>
            </a:b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4" title="AI Model.png"/>
          <p:cNvPicPr preferRelativeResize="0"/>
          <p:nvPr/>
        </p:nvPicPr>
        <p:blipFill rotWithShape="1">
          <a:blip r:embed="rId3">
            <a:alphaModFix/>
          </a:blip>
          <a:srcRect b="29326" l="30832" r="29445" t="28628"/>
          <a:stretch/>
        </p:blipFill>
        <p:spPr>
          <a:xfrm>
            <a:off x="1612925" y="2236125"/>
            <a:ext cx="6667325" cy="396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Functional Requirements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469900" y="1600200"/>
            <a:ext cx="821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Upload audio files (e.g., MP3, WAV) from the user’s device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Separate audio into components — vocals, instrumentals, background layers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Adjust individual track levels through the chosen interface (sliders, knobs, etc.)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Provide real-time preview of adjustments before exporting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Save the setting for future use</a:t>
            </a:r>
            <a:br>
              <a:rPr lang="en-US" sz="2000"/>
            </a:b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Man with to do list 2D vector isolated illustration (Provided by Getty Images)"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7750" y="207774"/>
            <a:ext cx="2089149" cy="139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469900" y="1320553"/>
            <a:ext cx="821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The interface should be simple and intuitive for users with little or no audio-editing experience.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Provide immediate visual and auditory feedback when adjustments are made.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Enable smooth, low-latency interaction for real-time control.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Maintain a clean, uncluttered layout that highlights main controls.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solidFill>
                  <a:schemeClr val="dk1"/>
                </a:solidFill>
              </a:rPr>
              <a:t>Support users with different hearing or visual needs through clear visuals and contrast options.</a:t>
            </a:r>
            <a:endParaRPr sz="2000"/>
          </a:p>
        </p:txBody>
      </p:sp>
      <p:sp>
        <p:nvSpPr>
          <p:cNvPr id="106" name="Google Shape;106;p16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UX Requirements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443375" y="434925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User Personalization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70400"/>
            <a:ext cx="8839204" cy="3388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685788" y="1317695"/>
            <a:ext cx="77724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</a:rPr>
              <a:t>Prototype</a:t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eta testing isolated concept vector illustration. (Provided by Getty Images)"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4750" y="2672450"/>
            <a:ext cx="3254500" cy="32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Updates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469900" y="1600200"/>
            <a:ext cx="821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Model integration ✅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Light and dark themes ✅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Finalize audio channels ✅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>
                <a:solidFill>
                  <a:schemeClr val="dk1"/>
                </a:solidFill>
              </a:rPr>
              <a:t>Vocal, drums, bass, others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User-specific history + recommendations ✅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54C84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Make AIs role explicit ✅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54C84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Real-time Mixing ✅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Research Questions</a:t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469900" y="1141400"/>
            <a:ext cx="8217000" cy="498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Do users feel the sliders give them </a:t>
            </a:r>
            <a:r>
              <a:rPr b="1" lang="en-US" sz="1300">
                <a:solidFill>
                  <a:schemeClr val="dk1"/>
                </a:solidFill>
              </a:rPr>
              <a:t>adequate, immediate control</a:t>
            </a:r>
            <a:r>
              <a:rPr lang="en-US" sz="1300">
                <a:solidFill>
                  <a:schemeClr val="dk1"/>
                </a:solidFill>
              </a:rPr>
              <a:t> over the mix?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Does the AI-suggested gain preset feel </a:t>
            </a:r>
            <a:r>
              <a:rPr b="1" lang="en-US" sz="1300">
                <a:solidFill>
                  <a:schemeClr val="dk1"/>
                </a:solidFill>
              </a:rPr>
              <a:t>appropriate and trustworthy</a:t>
            </a:r>
            <a:r>
              <a:rPr lang="en-US" sz="1300">
                <a:solidFill>
                  <a:schemeClr val="dk1"/>
                </a:solidFill>
              </a:rPr>
              <a:t>? Would explanations or feedback</a:t>
            </a:r>
            <a:r>
              <a:rPr b="1" lang="en-US" sz="1300">
                <a:solidFill>
                  <a:schemeClr val="dk1"/>
                </a:solidFill>
              </a:rPr>
              <a:t> increase users’ willingness</a:t>
            </a:r>
            <a:r>
              <a:rPr lang="en-US" sz="1300">
                <a:solidFill>
                  <a:schemeClr val="dk1"/>
                </a:solidFill>
              </a:rPr>
              <a:t> to accept the suggestion?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Over multiple saved mixes, do users perceive the model’s recommendations as </a:t>
            </a:r>
            <a:r>
              <a:rPr b="1" lang="en-US" sz="1300">
                <a:solidFill>
                  <a:schemeClr val="dk1"/>
                </a:solidFill>
              </a:rPr>
              <a:t>improving and reflecting their taste</a:t>
            </a:r>
            <a:r>
              <a:rPr lang="en-US" sz="1300">
                <a:solidFill>
                  <a:schemeClr val="dk1"/>
                </a:solidFill>
              </a:rPr>
              <a:t>?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When mixing </a:t>
            </a:r>
            <a:r>
              <a:rPr b="1" lang="en-US" sz="1300">
                <a:solidFill>
                  <a:schemeClr val="dk1"/>
                </a:solidFill>
              </a:rPr>
              <a:t>fails</a:t>
            </a:r>
            <a:r>
              <a:rPr lang="en-US" sz="1300">
                <a:solidFill>
                  <a:schemeClr val="dk1"/>
                </a:solidFill>
              </a:rPr>
              <a:t>, do users understand what happened and how to recover (e.g., retry, re-upload, adjust file)?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How do users split time </a:t>
            </a:r>
            <a:r>
              <a:rPr b="1" lang="en-US" sz="1300">
                <a:solidFill>
                  <a:schemeClr val="dk1"/>
                </a:solidFill>
              </a:rPr>
              <a:t>between manual mixing and accepting AI presets</a:t>
            </a:r>
            <a:r>
              <a:rPr lang="en-US" sz="1300">
                <a:solidFill>
                  <a:schemeClr val="dk1"/>
                </a:solidFill>
              </a:rPr>
              <a:t>? When do users switch between the two?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Are progress indicators and status messages (separation, saving, applying settings) </a:t>
            </a:r>
            <a:r>
              <a:rPr b="1" lang="en-US" sz="1300">
                <a:solidFill>
                  <a:schemeClr val="dk1"/>
                </a:solidFill>
              </a:rPr>
              <a:t>sufficient to keep users oriented</a:t>
            </a:r>
            <a:r>
              <a:rPr lang="en-US" sz="1300">
                <a:solidFill>
                  <a:schemeClr val="dk1"/>
                </a:solidFill>
              </a:rPr>
              <a:t>?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Do users </a:t>
            </a:r>
            <a:r>
              <a:rPr b="1" lang="en-US" sz="1300">
                <a:solidFill>
                  <a:schemeClr val="dk1"/>
                </a:solidFill>
              </a:rPr>
              <a:t>understand </a:t>
            </a:r>
            <a:r>
              <a:rPr lang="en-US" sz="1300">
                <a:solidFill>
                  <a:schemeClr val="dk1"/>
                </a:solidFill>
              </a:rPr>
              <a:t>that their personalized model and mixes </a:t>
            </a:r>
            <a:r>
              <a:rPr b="1" lang="en-US" sz="1300">
                <a:solidFill>
                  <a:schemeClr val="dk1"/>
                </a:solidFill>
              </a:rPr>
              <a:t>live locally</a:t>
            </a:r>
            <a:r>
              <a:rPr lang="en-US" sz="1300">
                <a:solidFill>
                  <a:schemeClr val="dk1"/>
                </a:solidFill>
              </a:rPr>
              <a:t> (per browser)? Does that affect </a:t>
            </a:r>
            <a:r>
              <a:rPr b="1" lang="en-US" sz="1300">
                <a:solidFill>
                  <a:schemeClr val="dk1"/>
                </a:solidFill>
              </a:rPr>
              <a:t>perceived value or trust</a:t>
            </a:r>
            <a:r>
              <a:rPr lang="en-US" sz="1300">
                <a:solidFill>
                  <a:schemeClr val="dk1"/>
                </a:solidFill>
              </a:rPr>
              <a:t>?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US" sz="1300">
                <a:solidFill>
                  <a:schemeClr val="dk1"/>
                </a:solidFill>
              </a:rPr>
              <a:t>How do users </a:t>
            </a:r>
            <a:r>
              <a:rPr b="1" lang="en-US" sz="1300">
                <a:solidFill>
                  <a:schemeClr val="dk1"/>
                </a:solidFill>
              </a:rPr>
              <a:t>rate mixed output quality</a:t>
            </a:r>
            <a:r>
              <a:rPr lang="en-US" sz="1300">
                <a:solidFill>
                  <a:schemeClr val="dk1"/>
                </a:solidFill>
              </a:rPr>
              <a:t> across genres?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US" sz="1300">
                <a:solidFill>
                  <a:srgbClr val="000000"/>
                </a:solidFill>
              </a:rPr>
              <a:t>Over repeated sessions, does </a:t>
            </a:r>
            <a:r>
              <a:rPr b="1" lang="en-US" sz="1300">
                <a:solidFill>
                  <a:srgbClr val="000000"/>
                </a:solidFill>
              </a:rPr>
              <a:t>reliance </a:t>
            </a:r>
            <a:r>
              <a:rPr lang="en-US" sz="1300">
                <a:solidFill>
                  <a:srgbClr val="000000"/>
                </a:solidFill>
              </a:rPr>
              <a:t>on the AI suggestions </a:t>
            </a:r>
            <a:r>
              <a:rPr b="1" lang="en-US" sz="1300">
                <a:solidFill>
                  <a:srgbClr val="000000"/>
                </a:solidFill>
              </a:rPr>
              <a:t>increase, decrease, or stay stable</a:t>
            </a:r>
            <a:r>
              <a:rPr lang="en-US" sz="1300">
                <a:solidFill>
                  <a:srgbClr val="000000"/>
                </a:solidFill>
              </a:rPr>
              <a:t>?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Qualitative Feedback</a:t>
            </a:r>
            <a:endParaRPr/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463500" y="958000"/>
            <a:ext cx="8217000" cy="5269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-US" sz="1700">
                <a:solidFill>
                  <a:srgbClr val="000000"/>
                </a:solidFill>
              </a:rPr>
              <a:t>Human–AI Workflow</a:t>
            </a:r>
            <a:endParaRPr b="1" sz="1700">
              <a:solidFill>
                <a:srgbClr val="000000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n-US" sz="1700">
                <a:solidFill>
                  <a:srgbClr val="000000"/>
                </a:solidFill>
              </a:rPr>
              <a:t>Users see AI presets as a </a:t>
            </a:r>
            <a:r>
              <a:rPr i="1" lang="en-US" sz="1700">
                <a:solidFill>
                  <a:srgbClr val="000000"/>
                </a:solidFill>
              </a:rPr>
              <a:t>starting point</a:t>
            </a:r>
            <a:r>
              <a:rPr lang="en-US" sz="1700">
                <a:solidFill>
                  <a:srgbClr val="000000"/>
                </a:solidFill>
              </a:rPr>
              <a:t>, not the final mix.</a:t>
            </a:r>
            <a:endParaRPr sz="1700">
              <a:solidFill>
                <a:srgbClr val="000000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n-US" sz="1700">
                <a:solidFill>
                  <a:srgbClr val="000000"/>
                </a:solidFill>
              </a:rPr>
              <a:t>They want strong control features (undo/reset, A/B compare, snapshots) to manage the handoff and quickly converge on a preferred mix.</a:t>
            </a:r>
            <a:endParaRPr sz="1700">
              <a:solidFill>
                <a:srgbClr val="000000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n-US" sz="1700">
                <a:solidFill>
                  <a:srgbClr val="000000"/>
                </a:solidFill>
              </a:rPr>
              <a:t>UI is simple enough that users are comfortable using it </a:t>
            </a:r>
            <a:r>
              <a:rPr i="1" lang="en-US" sz="1700">
                <a:solidFill>
                  <a:srgbClr val="000000"/>
                </a:solidFill>
              </a:rPr>
              <a:t>without</a:t>
            </a:r>
            <a:r>
              <a:rPr lang="en-US" sz="1700">
                <a:solidFill>
                  <a:srgbClr val="000000"/>
                </a:solidFill>
              </a:rPr>
              <a:t> AI as well.</a:t>
            </a:r>
            <a:br>
              <a:rPr lang="en-US" sz="1700">
                <a:solidFill>
                  <a:srgbClr val="000000"/>
                </a:solidFill>
              </a:rPr>
            </a:b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-US" sz="1700">
                <a:solidFill>
                  <a:srgbClr val="000000"/>
                </a:solidFill>
              </a:rPr>
              <a:t>Control &amp; Responsiveness</a:t>
            </a:r>
            <a:endParaRPr b="1" sz="1700">
              <a:solidFill>
                <a:srgbClr val="000000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n-US" sz="1700">
                <a:solidFill>
                  <a:srgbClr val="000000"/>
                </a:solidFill>
              </a:rPr>
              <a:t>Slider responsiveness is generally satisfactory.</a:t>
            </a:r>
            <a:endParaRPr sz="1700">
              <a:solidFill>
                <a:srgbClr val="000000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n-US" sz="1700">
                <a:solidFill>
                  <a:srgbClr val="000000"/>
                </a:solidFill>
              </a:rPr>
              <a:t>The vertical slider layout (from Stage 2) works well; no strong complaints or further suggestions.</a:t>
            </a:r>
            <a:br>
              <a:rPr lang="en-US" sz="1700">
                <a:solidFill>
                  <a:srgbClr val="000000"/>
                </a:solidFill>
              </a:rPr>
            </a:b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-US" sz="1700">
                <a:solidFill>
                  <a:srgbClr val="000000"/>
                </a:solidFill>
              </a:rPr>
              <a:t>Trust &amp; Genre Sensitivity</a:t>
            </a:r>
            <a:endParaRPr b="1" sz="1700">
              <a:solidFill>
                <a:srgbClr val="000000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n-US" sz="1700">
                <a:solidFill>
                  <a:srgbClr val="000000"/>
                </a:solidFill>
              </a:rPr>
              <a:t>Trust in AI suggestions is </a:t>
            </a:r>
            <a:r>
              <a:rPr i="1" lang="en-US" sz="1700">
                <a:solidFill>
                  <a:srgbClr val="000000"/>
                </a:solidFill>
              </a:rPr>
              <a:t>genre-dependent</a:t>
            </a:r>
            <a:r>
              <a:rPr lang="en-US" sz="1700">
                <a:solidFill>
                  <a:srgbClr val="000000"/>
                </a:solidFill>
              </a:rPr>
              <a:t>.</a:t>
            </a:r>
            <a:endParaRPr sz="1700">
              <a:solidFill>
                <a:srgbClr val="000000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n-US" sz="1700">
                <a:solidFill>
                  <a:srgbClr val="000000"/>
                </a:solidFill>
              </a:rPr>
              <a:t>Users want explanations, “why” cues, or confidence indicators to know when to rely on AI vs manual adjustment.</a:t>
            </a:r>
            <a:endParaRPr sz="17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Qualitative Feedback (Contd..)</a:t>
            </a:r>
            <a:endParaRPr/>
          </a:p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469900" y="1138950"/>
            <a:ext cx="8217000" cy="4987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-US" sz="1700">
                <a:solidFill>
                  <a:srgbClr val="000000"/>
                </a:solidFill>
              </a:rPr>
              <a:t>Personalization</a:t>
            </a:r>
            <a:endParaRPr b="1" sz="1700">
              <a:solidFill>
                <a:srgbClr val="000000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n-US" sz="1700">
                <a:solidFill>
                  <a:srgbClr val="000000"/>
                </a:solidFill>
              </a:rPr>
              <a:t>Personalization clearly improves mix quality once enough history is available.</a:t>
            </a:r>
            <a:endParaRPr sz="1700">
              <a:solidFill>
                <a:srgbClr val="000000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n-US" sz="1700">
                <a:solidFill>
                  <a:srgbClr val="000000"/>
                </a:solidFill>
              </a:rPr>
              <a:t>Early behavior feels random; users would rather have </a:t>
            </a:r>
            <a:r>
              <a:rPr i="1" lang="en-US" sz="1700">
                <a:solidFill>
                  <a:srgbClr val="000000"/>
                </a:solidFill>
              </a:rPr>
              <a:t>no</a:t>
            </a:r>
            <a:r>
              <a:rPr lang="en-US" sz="1700">
                <a:solidFill>
                  <a:srgbClr val="000000"/>
                </a:solidFill>
              </a:rPr>
              <a:t> AI suggestion than poor initial recommendations.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-US" sz="1700">
                <a:solidFill>
                  <a:srgbClr val="000000"/>
                </a:solidFill>
              </a:rPr>
              <a:t>Data Handling &amp; Privacy</a:t>
            </a:r>
            <a:endParaRPr b="1" sz="1700">
              <a:solidFill>
                <a:srgbClr val="000000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n-US" sz="1700">
                <a:solidFill>
                  <a:srgbClr val="000000"/>
                </a:solidFill>
              </a:rPr>
              <a:t>Local-only personalization increases privacy trust.</a:t>
            </a:r>
            <a:endParaRPr sz="1700">
              <a:solidFill>
                <a:srgbClr val="000000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n-US" sz="1700">
                <a:solidFill>
                  <a:srgbClr val="000000"/>
                </a:solidFill>
              </a:rPr>
              <a:t>However, it sets the expectation that preferences will </a:t>
            </a:r>
            <a:r>
              <a:rPr i="1" lang="en-US" sz="1700">
                <a:solidFill>
                  <a:srgbClr val="000000"/>
                </a:solidFill>
              </a:rPr>
              <a:t>not</a:t>
            </a:r>
            <a:r>
              <a:rPr lang="en-US" sz="1700">
                <a:solidFill>
                  <a:srgbClr val="000000"/>
                </a:solidFill>
              </a:rPr>
              <a:t> sync across devices.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-US" sz="1700">
                <a:solidFill>
                  <a:srgbClr val="000000"/>
                </a:solidFill>
              </a:rPr>
              <a:t>Audio Quality Limits</a:t>
            </a:r>
            <a:endParaRPr b="1" sz="1700">
              <a:solidFill>
                <a:srgbClr val="000000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n-US" sz="1700">
                <a:solidFill>
                  <a:srgbClr val="000000"/>
                </a:solidFill>
              </a:rPr>
              <a:t>Mix quality is strong for clean, conventional recordings.</a:t>
            </a:r>
            <a:endParaRPr sz="1700">
              <a:solidFill>
                <a:srgbClr val="000000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n-US" sz="1700">
                <a:solidFill>
                  <a:srgbClr val="000000"/>
                </a:solidFill>
              </a:rPr>
              <a:t>Performance degrades for highly complex tracks (e.g., some Indian pop with dense electronic layers), though overall satisfaction remained high for most test inputs.</a:t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Reflections &amp; Future Roadmap</a:t>
            </a:r>
            <a:endParaRPr/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377025" y="1076800"/>
            <a:ext cx="57072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Key Learnings: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solidFill>
                  <a:schemeClr val="dk1"/>
                </a:solidFill>
              </a:rPr>
              <a:t>AI as a "Launchpad," Not a Destination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solidFill>
                  <a:schemeClr val="dk1"/>
                </a:solidFill>
              </a:rPr>
              <a:t>The "Cold Start" Barrier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solidFill>
                  <a:schemeClr val="dk1"/>
                </a:solidFill>
              </a:rPr>
              <a:t>Privacy vs. Continuity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Future Directions: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>
                <a:solidFill>
                  <a:schemeClr val="dk1"/>
                </a:solidFill>
              </a:rPr>
              <a:t>Live Hosting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chemeClr val="dk1"/>
                </a:solidFill>
              </a:rPr>
              <a:t>Web URL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chemeClr val="dk1"/>
                </a:solidFill>
              </a:rPr>
              <a:t>Cloud Architecture/Cross Device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>
                <a:solidFill>
                  <a:schemeClr val="dk1"/>
                </a:solidFill>
              </a:rPr>
              <a:t>Genre-Based </a:t>
            </a:r>
            <a:r>
              <a:rPr lang="en-US" sz="2000">
                <a:solidFill>
                  <a:schemeClr val="dk1"/>
                </a:solidFill>
              </a:rPr>
              <a:t>Averages</a:t>
            </a:r>
            <a:r>
              <a:rPr lang="en-US" sz="2000">
                <a:solidFill>
                  <a:schemeClr val="dk1"/>
                </a:solidFill>
              </a:rPr>
              <a:t> for new users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>
                <a:solidFill>
                  <a:schemeClr val="dk1"/>
                </a:solidFill>
              </a:rPr>
              <a:t>Enhanced Control Suite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solidFill>
                  <a:schemeClr val="dk1"/>
                </a:solidFill>
              </a:rPr>
              <a:t>Login system for different users (Privacy++)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>
                <a:solidFill>
                  <a:schemeClr val="dk1"/>
                </a:solidFill>
              </a:rPr>
              <a:t>In-depth help page + tutorial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Business People Think and Discussing Idea, Teamwork, Brainstorm Concept. Creative Team Man and Woman in Office (Provided by Getty Images)" id="156" name="Google Shape;15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4100" y="1016000"/>
            <a:ext cx="2813998" cy="2074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sinessman freelancer sitting at workplace business man looking in computer monitor working process concept (Provided by Getty Images)" id="157" name="Google Shape;15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9451" y="3968475"/>
            <a:ext cx="3086100" cy="1882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