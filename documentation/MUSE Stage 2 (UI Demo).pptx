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7023100" cy="9309100"/>
  <p:embeddedFontLst>
    <p:embeddedFont>
      <p:font typeface="Garamond"/>
      <p:regular r:id="rId22"/>
      <p:bold r:id="rId23"/>
      <p:italic r:id="rId24"/>
      <p:boldItalic r:id="rId25"/>
    </p:embeddedFont>
    <p:embeddedFont>
      <p:font typeface="Helvetica Neue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aramond-regular.fntdata"/><Relationship Id="rId21" Type="http://schemas.openxmlformats.org/officeDocument/2006/relationships/slide" Target="slides/slide16.xml"/><Relationship Id="rId24" Type="http://schemas.openxmlformats.org/officeDocument/2006/relationships/font" Target="fonts/Garamond-italic.fntdata"/><Relationship Id="rId23" Type="http://schemas.openxmlformats.org/officeDocument/2006/relationships/font" Target="fonts/Garamon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regular.fntdata"/><Relationship Id="rId25" Type="http://schemas.openxmlformats.org/officeDocument/2006/relationships/font" Target="fonts/Garamond-boldItalic.fntdata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44970" cy="463392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6505" y="0"/>
            <a:ext cx="3044970" cy="463392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7450" y="700088"/>
            <a:ext cx="4649788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3937" y="4422855"/>
            <a:ext cx="5615229" cy="41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42534"/>
            <a:ext cx="3044970" cy="464979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6505" y="8842534"/>
            <a:ext cx="3044970" cy="464979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efaddd3d4_0_1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7efaddd3d4_0_1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d67a88247_0_0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d67a88247_0_0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8d67a88247_0_0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d67a8828c_2_12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d67a8828c_2_12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8d67a8828c_2_12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009886556_0_0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009886556_0_0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a009886556_0_0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d67a8828c_1_69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d67a8828c_1_69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8d67a8828c_1_69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d67a8828c_1_77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d67a8828c_1_77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8d67a8828c_1_77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043218acf_1_0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043218acf_1_0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a043218acf_1_0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009886556_0_72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009886556_0_72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a009886556_0_72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009886556_0_79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009886556_0_79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a009886556_0_79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009886556_0_7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009886556_0_7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a009886556_0_7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009886556_0_51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009886556_0_51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a009886556_0_51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009886556_0_25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009886556_0_25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a009886556_0_25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009886556_0_13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009886556_0_13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a009886556_0_13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009886556_0_62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009886556_0_62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a009886556_0_62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009886556_0_19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009886556_0_19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a009886556_0_19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009886556_0_93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009886556_0_93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a009886556_0_93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1736725"/>
            <a:ext cx="7772400" cy="1920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SzPts val="196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840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5157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54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69900" y="1600200"/>
            <a:ext cx="82169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▪"/>
              <a:defRPr sz="2800"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•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 sz="1800"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▪"/>
              <a:defRPr sz="2800"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•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 sz="1800"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▪"/>
              <a:defRPr sz="2400"/>
            </a:lvl1pPr>
            <a:lvl2pPr indent="-317500" lvl="1" marL="914400" algn="l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•"/>
              <a:defRPr sz="1600"/>
            </a:lvl4pPr>
            <a:lvl5pPr indent="-299720" lvl="4" marL="2286000" algn="l">
              <a:spcBef>
                <a:spcPts val="320"/>
              </a:spcBef>
              <a:spcAft>
                <a:spcPts val="0"/>
              </a:spcAft>
              <a:buSzPts val="1120"/>
              <a:buChar char="▪"/>
              <a:defRPr sz="1600"/>
            </a:lvl5pPr>
            <a:lvl6pPr indent="-299720" lvl="5" marL="27432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6pPr>
            <a:lvl7pPr indent="-299720" lvl="6" marL="32004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7pPr>
            <a:lvl8pPr indent="-299720" lvl="7" marL="36576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8pPr>
            <a:lvl9pPr indent="-299720" lvl="8" marL="41148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2" name="Google Shape;42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▪"/>
              <a:defRPr sz="2400"/>
            </a:lvl1pPr>
            <a:lvl2pPr indent="-317500" lvl="1" marL="914400" algn="l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•"/>
              <a:defRPr sz="1600"/>
            </a:lvl4pPr>
            <a:lvl5pPr indent="-299720" lvl="4" marL="2286000" algn="l">
              <a:spcBef>
                <a:spcPts val="320"/>
              </a:spcBef>
              <a:spcAft>
                <a:spcPts val="0"/>
              </a:spcAft>
              <a:buSzPts val="1120"/>
              <a:buChar char="▪"/>
              <a:defRPr sz="1600"/>
            </a:lvl5pPr>
            <a:lvl6pPr indent="-299720" lvl="5" marL="27432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6pPr>
            <a:lvl7pPr indent="-299720" lvl="6" marL="32004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7pPr>
            <a:lvl8pPr indent="-299720" lvl="7" marL="36576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8pPr>
            <a:lvl9pPr indent="-299720" lvl="8" marL="41148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▪"/>
              <a:defRPr sz="3200"/>
            </a:lvl1pPr>
            <a:lvl2pPr indent="-353060" lvl="1" marL="914400" algn="l">
              <a:spcBef>
                <a:spcPts val="560"/>
              </a:spcBef>
              <a:spcAft>
                <a:spcPts val="0"/>
              </a:spcAft>
              <a:buSzPts val="1960"/>
              <a:buChar char="•"/>
              <a:defRPr sz="28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▪"/>
              <a:defRPr sz="2400"/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2000"/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6pPr>
            <a:lvl7pPr indent="-317500" lvl="6" marL="32004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7pPr>
            <a:lvl8pPr indent="-317500" lvl="7" marL="36576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8pPr>
            <a:lvl9pPr indent="-317500" lvl="8" marL="41148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rgbClr val="054C84"/>
              </a:buClr>
              <a:buSzPts val="2240"/>
              <a:buFont typeface="Noto Sans Symbols"/>
              <a:buNone/>
              <a:defRPr b="0" i="0" sz="32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rgbClr val="054C84"/>
              </a:buClr>
              <a:buSzPts val="1960"/>
              <a:buFont typeface="Arial"/>
              <a:buNone/>
              <a:defRPr b="0" i="0" sz="2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054C84"/>
              </a:buClr>
              <a:buSzPts val="1680"/>
              <a:buFont typeface="Noto Sans Symbols"/>
              <a:buNone/>
              <a:defRPr b="0" i="0" sz="24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2315368" y="-245269"/>
            <a:ext cx="4525963" cy="8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" type="body"/>
          </p:nvPr>
        </p:nvSpPr>
        <p:spPr>
          <a:xfrm>
            <a:off x="469900" y="1600200"/>
            <a:ext cx="82169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054C84"/>
              </a:buClr>
              <a:buSzPts val="1960"/>
              <a:buFont typeface="Noto Sans Symbols"/>
              <a:buChar char="▪"/>
              <a:defRPr b="0" i="0" sz="2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054C84"/>
              </a:buClr>
              <a:buSzPts val="1680"/>
              <a:buFont typeface="Arial"/>
              <a:buChar char="•"/>
              <a:defRPr b="0" i="0" sz="24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400"/>
              <a:buFont typeface="Noto Sans Symbols"/>
              <a:buChar char="▪"/>
              <a:defRPr b="0" i="0" sz="20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200"/>
              <a:buFont typeface="Arial"/>
              <a:buChar char="•"/>
              <a:defRPr b="0" i="0" sz="1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200"/>
              <a:buFont typeface="Noto Sans Symbols"/>
              <a:buChar char="▪"/>
              <a:defRPr b="0" i="0" sz="1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514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-50800" y="6356093"/>
            <a:ext cx="9245600" cy="522228"/>
          </a:xfrm>
          <a:prstGeom prst="rect">
            <a:avLst/>
          </a:prstGeom>
          <a:solidFill>
            <a:srgbClr val="0722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3" name="Google Shape;13;p1"/>
          <p:cNvCxnSpPr/>
          <p:nvPr/>
        </p:nvCxnSpPr>
        <p:spPr>
          <a:xfrm>
            <a:off x="-50800" y="6345143"/>
            <a:ext cx="9245600" cy="0"/>
          </a:xfrm>
          <a:prstGeom prst="straightConnector1">
            <a:avLst/>
          </a:prstGeom>
          <a:noFill/>
          <a:ln cap="flat" cmpd="sng" w="38100">
            <a:solidFill>
              <a:srgbClr val="F8D71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descr="CSE-marketing-formal-tall-rev.png"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06738" y="6470122"/>
            <a:ext cx="2930525" cy="29368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mpedstudio.com/ai-in-music/" TargetMode="External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muse-ai594.web.app/" TargetMode="External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/>
        </p:nvSpPr>
        <p:spPr>
          <a:xfrm>
            <a:off x="225050" y="1001875"/>
            <a:ext cx="8267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400"/>
              <a:t>MUSE - M</a:t>
            </a:r>
            <a:r>
              <a:rPr lang="en-US" sz="3400"/>
              <a:t>achine</a:t>
            </a:r>
            <a:r>
              <a:rPr b="1" lang="en-US" sz="3400"/>
              <a:t> </a:t>
            </a:r>
            <a:r>
              <a:rPr lang="en-US" sz="3400"/>
              <a:t>enhanced</a:t>
            </a:r>
            <a:r>
              <a:rPr b="1" lang="en-US" sz="3400"/>
              <a:t> U</a:t>
            </a:r>
            <a:r>
              <a:rPr lang="en-US" sz="3400"/>
              <a:t>ser</a:t>
            </a:r>
            <a:r>
              <a:rPr b="1" lang="en-US" sz="3400"/>
              <a:t> S</a:t>
            </a:r>
            <a:r>
              <a:rPr lang="en-US" sz="3400"/>
              <a:t>ound</a:t>
            </a:r>
            <a:r>
              <a:rPr b="1" lang="en-US" sz="3400"/>
              <a:t> E</a:t>
            </a:r>
            <a:r>
              <a:rPr lang="en-US" sz="3400"/>
              <a:t>xperience</a:t>
            </a:r>
            <a:endParaRPr sz="3100">
              <a:solidFill>
                <a:srgbClr val="000514"/>
              </a:solidFill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3075525" y="3687625"/>
            <a:ext cx="571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66666"/>
                </a:solidFill>
              </a:rPr>
              <a:t>Shivam Arora</a:t>
            </a:r>
            <a:r>
              <a:rPr b="1" lang="en-US" sz="1600">
                <a:solidFill>
                  <a:srgbClr val="666666"/>
                </a:solidFill>
              </a:rPr>
              <a:t>, </a:t>
            </a:r>
            <a:r>
              <a:rPr b="1" lang="en-US" sz="1800">
                <a:solidFill>
                  <a:srgbClr val="666666"/>
                </a:solidFill>
              </a:rPr>
              <a:t>Aman Soni</a:t>
            </a:r>
            <a:r>
              <a:rPr b="1" lang="en-US" sz="1600">
                <a:solidFill>
                  <a:srgbClr val="666666"/>
                </a:solidFill>
              </a:rPr>
              <a:t>, </a:t>
            </a:r>
            <a:r>
              <a:rPr b="1" lang="en-US" sz="1800">
                <a:solidFill>
                  <a:srgbClr val="666666"/>
                </a:solidFill>
              </a:rPr>
              <a:t>Zubair Qazi</a:t>
            </a:r>
            <a:r>
              <a:rPr b="1" lang="en-US" sz="1600">
                <a:solidFill>
                  <a:srgbClr val="666666"/>
                </a:solidFill>
              </a:rPr>
              <a:t>, </a:t>
            </a:r>
            <a:r>
              <a:rPr b="1" lang="en-US" sz="1800">
                <a:solidFill>
                  <a:srgbClr val="666666"/>
                </a:solidFill>
              </a:rPr>
              <a:t>Sidharth</a:t>
            </a:r>
            <a:endParaRPr b="1" baseline="30000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514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3075525" y="4364725"/>
            <a:ext cx="5456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66666"/>
                </a:solidFill>
              </a:rPr>
              <a:t>Department of CSE, University of Michigan, Ann Arbor</a:t>
            </a:r>
            <a:endParaRPr b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66666"/>
              </a:solidFill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5491950" y="35717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66666"/>
              </a:solidFill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98688" y="4364725"/>
            <a:ext cx="23034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514"/>
                </a:solidFill>
              </a:rPr>
              <a:t>Image taken from </a:t>
            </a:r>
            <a:r>
              <a:rPr lang="en-US" sz="1000" u="sng">
                <a:solidFill>
                  <a:schemeClr val="hlink"/>
                </a:solidFill>
                <a:hlinkClick r:id="rId3"/>
              </a:rPr>
              <a:t>https://ampedstudio.com/ai-in-music/</a:t>
            </a:r>
            <a:endParaRPr sz="1000">
              <a:solidFill>
                <a:srgbClr val="000514"/>
              </a:solidFill>
            </a:endParaRPr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688" y="2614925"/>
            <a:ext cx="2713537" cy="166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Recap</a:t>
            </a:r>
            <a:endParaRPr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463500" y="1165950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ts val="1260"/>
              <a:buChar char="-"/>
            </a:pPr>
            <a:r>
              <a:rPr lang="en-US"/>
              <a:t>Design a personalized AI music mixing software to personalize music to users</a:t>
            </a:r>
            <a:br>
              <a:rPr lang="en-US"/>
            </a:b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4" title="AI Model.png"/>
          <p:cNvPicPr preferRelativeResize="0"/>
          <p:nvPr/>
        </p:nvPicPr>
        <p:blipFill rotWithShape="1">
          <a:blip r:embed="rId3">
            <a:alphaModFix/>
          </a:blip>
          <a:srcRect b="29326" l="30832" r="29445" t="28628"/>
          <a:stretch/>
        </p:blipFill>
        <p:spPr>
          <a:xfrm>
            <a:off x="1612925" y="2236125"/>
            <a:ext cx="6667325" cy="396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Choices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286750" y="955825"/>
            <a:ext cx="56274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</a:rPr>
              <a:t>Wireframe 2 (Vertical Slider)</a:t>
            </a:r>
            <a:endParaRPr b="1" sz="2800">
              <a:solidFill>
                <a:srgbClr val="FF0000"/>
              </a:solidFill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13" y="1768225"/>
            <a:ext cx="8886574" cy="41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685788" y="1317695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</a:rPr>
              <a:t>Prototype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eta testing isolated concept vector illustration. (Provided by Getty Images)"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4750" y="2672450"/>
            <a:ext cx="3254500" cy="32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Functional Requirements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469900" y="1600200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Upload audio files (e.g., MP3, WAV) from the user’s device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Separate audio into components — vocals, instrumentals, background layers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Adjust individual track levels through the chosen interface (sliders, knobs, etc.)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Provide real-time preview of adjustments before exporting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Save the setting for future use</a:t>
            </a:r>
            <a:br>
              <a:rPr lang="en-US" sz="2000"/>
            </a:b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Man with to do list 2D vector isolated illustration (Provided by Getty Images)"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7750" y="207774"/>
            <a:ext cx="2089149" cy="139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469900" y="1320553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The interface should be simple and intuitive for users with little or no audio-editing experience.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Provide immediate visual and auditory feedback when adjustments are made.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Enable smooth, low-latency interaction for real-time control.</a:t>
            </a:r>
            <a:br>
              <a:rPr lang="en-US" sz="2000"/>
            </a:b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Maintain a clean, uncluttered layout that highlights main controls.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chemeClr val="dk1"/>
                </a:solidFill>
              </a:rPr>
              <a:t>Support users with different hearing or visual needs through clear visuals and contrast options.</a:t>
            </a:r>
            <a:endParaRPr sz="2000"/>
          </a:p>
        </p:txBody>
      </p:sp>
      <p:sp>
        <p:nvSpPr>
          <p:cNvPr id="121" name="Google Shape;121;p18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UX Requirements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Prototype link</a:t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1219050" y="1281325"/>
            <a:ext cx="7481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u="sng">
                <a:solidFill>
                  <a:schemeClr val="hlink"/>
                </a:solidFill>
                <a:hlinkClick r:id="rId3"/>
              </a:rPr>
              <a:t>https://muse-ai594.web.app/</a:t>
            </a:r>
            <a:endParaRPr sz="4200"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2775" y="2331750"/>
            <a:ext cx="3458449" cy="3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HAX Guidelines</a:t>
            </a:r>
            <a:endParaRPr/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325" y="1016000"/>
            <a:ext cx="5788838" cy="511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750" y="4604759"/>
            <a:ext cx="1599875" cy="1067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HAX Guidelines</a:t>
            </a:r>
            <a:endParaRPr/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325" y="1016000"/>
            <a:ext cx="5788838" cy="51102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/>
          <p:nvPr/>
        </p:nvSpPr>
        <p:spPr>
          <a:xfrm>
            <a:off x="1596078" y="1454500"/>
            <a:ext cx="836700" cy="115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4103403" y="2585143"/>
            <a:ext cx="836700" cy="115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4940103" y="2585150"/>
            <a:ext cx="836700" cy="115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5776803" y="1428757"/>
            <a:ext cx="836700" cy="115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1"/>
          <p:cNvSpPr/>
          <p:nvPr/>
        </p:nvSpPr>
        <p:spPr>
          <a:xfrm>
            <a:off x="5776803" y="2585150"/>
            <a:ext cx="836700" cy="115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1"/>
          <p:cNvSpPr/>
          <p:nvPr/>
        </p:nvSpPr>
        <p:spPr>
          <a:xfrm>
            <a:off x="4940103" y="1428750"/>
            <a:ext cx="836700" cy="115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6613503" y="1428750"/>
            <a:ext cx="836700" cy="115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1" title="IMG_072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075" y="4171426"/>
            <a:ext cx="3824925" cy="19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Heuristic Evaluation</a:t>
            </a:r>
            <a:endParaRPr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463500" y="1015993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/>
              <a:t>Guideline 1: </a:t>
            </a:r>
            <a:r>
              <a:rPr b="1" lang="en-US" sz="2000"/>
              <a:t>Make clear what the system can do</a:t>
            </a:r>
            <a:endParaRPr b="1"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Char char="▪"/>
            </a:pPr>
            <a:r>
              <a:rPr b="1" lang="en-US" sz="2000"/>
              <a:t>No about section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b="1" lang="en-US" sz="2000"/>
              <a:t>No help/tutorial section</a:t>
            </a:r>
            <a:endParaRPr b="1" sz="2000"/>
          </a:p>
        </p:txBody>
      </p:sp>
      <p:grpSp>
        <p:nvGrpSpPr>
          <p:cNvPr id="160" name="Google Shape;160;p22"/>
          <p:cNvGrpSpPr/>
          <p:nvPr/>
        </p:nvGrpSpPr>
        <p:grpSpPr>
          <a:xfrm>
            <a:off x="575500" y="2677227"/>
            <a:ext cx="8217001" cy="3521027"/>
            <a:chOff x="329750" y="3089199"/>
            <a:chExt cx="8217001" cy="3070574"/>
          </a:xfrm>
        </p:grpSpPr>
        <p:pic>
          <p:nvPicPr>
            <p:cNvPr id="161" name="Google Shape;161;p22" title="Screenshot 2025-11-03 at 5.00.45 PM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9750" y="3089199"/>
              <a:ext cx="8217001" cy="3070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22"/>
            <p:cNvSpPr txBox="1"/>
            <p:nvPr/>
          </p:nvSpPr>
          <p:spPr>
            <a:xfrm>
              <a:off x="422868" y="3584216"/>
              <a:ext cx="1326300" cy="14625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FF0000"/>
                  </a:solidFill>
                </a:rPr>
                <a:t>Insert description of the system, or short tutorial</a:t>
              </a:r>
              <a:endParaRPr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Heuristic Evaluation</a:t>
            </a:r>
            <a:endParaRPr/>
          </a:p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463500" y="1015993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/>
              <a:t>Guideline 8: Support efficient dismissal</a:t>
            </a:r>
            <a:endParaRPr b="1"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Char char="▪"/>
            </a:pPr>
            <a:r>
              <a:rPr b="1" lang="en-US" sz="2000"/>
              <a:t>Add a play/pause button</a:t>
            </a:r>
            <a:endParaRPr b="1" sz="2000"/>
          </a:p>
        </p:txBody>
      </p:sp>
      <p:pic>
        <p:nvPicPr>
          <p:cNvPr id="170" name="Google Shape;170;p23" title="Screenshot 2025-11-03 at 5.11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025" y="2331785"/>
            <a:ext cx="8269948" cy="3478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Heuristic Evaluation</a:t>
            </a:r>
            <a:endParaRPr/>
          </a:p>
        </p:txBody>
      </p:sp>
      <p:sp>
        <p:nvSpPr>
          <p:cNvPr id="177" name="Google Shape;177;p24"/>
          <p:cNvSpPr txBox="1"/>
          <p:nvPr>
            <p:ph idx="1" type="body"/>
          </p:nvPr>
        </p:nvSpPr>
        <p:spPr>
          <a:xfrm>
            <a:off x="463500" y="1098250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/>
              <a:t>Guideline 10: Scope services when in doubt</a:t>
            </a:r>
            <a:endParaRPr b="1"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Char char="▪"/>
            </a:pPr>
            <a:r>
              <a:rPr b="1" lang="en-US" sz="2000"/>
              <a:t>Make it clear MUSE can make mistakes</a:t>
            </a:r>
            <a:endParaRPr b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Warning or model description text</a:t>
            </a:r>
            <a:endParaRPr b="1"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grpSp>
        <p:nvGrpSpPr>
          <p:cNvPr id="178" name="Google Shape;178;p24"/>
          <p:cNvGrpSpPr/>
          <p:nvPr/>
        </p:nvGrpSpPr>
        <p:grpSpPr>
          <a:xfrm>
            <a:off x="672088" y="2850991"/>
            <a:ext cx="7799834" cy="3275321"/>
            <a:chOff x="0" y="1509117"/>
            <a:chExt cx="9144003" cy="3839767"/>
          </a:xfrm>
        </p:grpSpPr>
        <p:pic>
          <p:nvPicPr>
            <p:cNvPr id="179" name="Google Shape;179;p24" title="Screenshot 2025-11-03 at 5.00.45 PM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1509117"/>
              <a:ext cx="9144003" cy="38397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24"/>
            <p:cNvSpPr txBox="1"/>
            <p:nvPr/>
          </p:nvSpPr>
          <p:spPr>
            <a:xfrm>
              <a:off x="4942300" y="2017725"/>
              <a:ext cx="2380500" cy="5895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8000" lIns="78000" spcFirstLastPara="1" rIns="78000" wrap="square" tIns="78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94">
                  <a:solidFill>
                    <a:srgbClr val="FF0000"/>
                  </a:solidFill>
                </a:rPr>
                <a:t>Disclaimer: MUSE can make mistakes</a:t>
              </a:r>
              <a:endParaRPr sz="1194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Heuristic Evaluation</a:t>
            </a:r>
            <a:endParaRPr/>
          </a:p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463500" y="1016000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/>
              <a:t>Guideline 12: Remember recent interactions</a:t>
            </a:r>
            <a:endParaRPr b="1"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Char char="▪"/>
            </a:pPr>
            <a:r>
              <a:rPr b="1" lang="en-US" sz="2000"/>
              <a:t>Store user’s mixed songs / settings</a:t>
            </a:r>
            <a:endParaRPr b="1" sz="2000"/>
          </a:p>
        </p:txBody>
      </p:sp>
      <p:grpSp>
        <p:nvGrpSpPr>
          <p:cNvPr id="188" name="Google Shape;188;p25"/>
          <p:cNvGrpSpPr/>
          <p:nvPr/>
        </p:nvGrpSpPr>
        <p:grpSpPr>
          <a:xfrm>
            <a:off x="556013" y="2758712"/>
            <a:ext cx="8044769" cy="3388190"/>
            <a:chOff x="556013" y="2823071"/>
            <a:chExt cx="8044769" cy="3388190"/>
          </a:xfrm>
        </p:grpSpPr>
        <p:pic>
          <p:nvPicPr>
            <p:cNvPr id="189" name="Google Shape;189;p25" title="Screenshot 2025-11-03 at 5.00.45 PM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6013" y="2833086"/>
              <a:ext cx="8044769" cy="3378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25"/>
            <p:cNvSpPr/>
            <p:nvPr/>
          </p:nvSpPr>
          <p:spPr>
            <a:xfrm>
              <a:off x="4515230" y="2823071"/>
              <a:ext cx="618300" cy="239400"/>
            </a:xfrm>
            <a:prstGeom prst="rect">
              <a:avLst/>
            </a:prstGeom>
            <a:noFill/>
            <a:ln cap="flat" cmpd="sng" w="8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0425" lIns="80425" spcFirstLastPara="1" rIns="80425" wrap="square" tIns="80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31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Heuristic Evaluation</a:t>
            </a:r>
            <a:endParaRPr/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463500" y="1015993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Guideline 13: Learn from user behavior</a:t>
            </a:r>
            <a:endParaRPr b="1"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Char char="▪"/>
            </a:pPr>
            <a:r>
              <a:rPr b="1" lang="en-US" sz="2000"/>
              <a:t>Include UI for user-specific options</a:t>
            </a:r>
            <a:endParaRPr b="1" sz="2000"/>
          </a:p>
        </p:txBody>
      </p:sp>
      <p:pic>
        <p:nvPicPr>
          <p:cNvPr id="198" name="Google Shape;198;p26" title="Screenshot 2025-11-03 at 5.14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300" y="2495650"/>
            <a:ext cx="8482401" cy="357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Heuristic Evaluation</a:t>
            </a:r>
            <a:endParaRPr/>
          </a:p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463500" y="1016006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/>
              <a:t>Guideline 9: Support efficient correction</a:t>
            </a:r>
            <a:endParaRPr b="1"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Guideline 15: Encourage granular feedback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Char char="▪"/>
            </a:pPr>
            <a:r>
              <a:rPr b="1" lang="en-US" sz="2000"/>
              <a:t>A system for feedback</a:t>
            </a:r>
            <a:endParaRPr b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UI-based feedback system</a:t>
            </a:r>
            <a:endParaRPr b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Model-based feedback system</a:t>
            </a:r>
            <a:endParaRPr b="1" sz="20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grpSp>
        <p:nvGrpSpPr>
          <p:cNvPr id="206" name="Google Shape;206;p27"/>
          <p:cNvGrpSpPr/>
          <p:nvPr/>
        </p:nvGrpSpPr>
        <p:grpSpPr>
          <a:xfrm>
            <a:off x="852225" y="3099647"/>
            <a:ext cx="7439560" cy="3124034"/>
            <a:chOff x="0" y="2268542"/>
            <a:chExt cx="9144003" cy="3839767"/>
          </a:xfrm>
        </p:grpSpPr>
        <p:pic>
          <p:nvPicPr>
            <p:cNvPr id="207" name="Google Shape;207;p27" title="Screenshot 2025-11-03 at 5.00.45 PM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2268542"/>
              <a:ext cx="9144003" cy="38397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27"/>
            <p:cNvSpPr txBox="1"/>
            <p:nvPr/>
          </p:nvSpPr>
          <p:spPr>
            <a:xfrm>
              <a:off x="7470100" y="3117200"/>
              <a:ext cx="1416900" cy="26073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4375" lIns="74375" spcFirstLastPara="1" rIns="74375" wrap="square" tIns="74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39">
                  <a:solidFill>
                    <a:srgbClr val="FF0000"/>
                  </a:solidFill>
                </a:rPr>
                <a:t>Please enter your detailed feedback here</a:t>
              </a:r>
              <a:endParaRPr sz="1139">
                <a:solidFill>
                  <a:srgbClr val="FF0000"/>
                </a:solidFill>
              </a:endParaRPr>
            </a:p>
          </p:txBody>
        </p:sp>
        <p:sp>
          <p:nvSpPr>
            <p:cNvPr id="209" name="Google Shape;209;p27"/>
            <p:cNvSpPr txBox="1"/>
            <p:nvPr/>
          </p:nvSpPr>
          <p:spPr>
            <a:xfrm>
              <a:off x="6257225" y="5543016"/>
              <a:ext cx="997500" cy="3513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74375" lIns="74375" spcFirstLastPara="1" rIns="74375" wrap="square" tIns="74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39"/>
                <a:t>👍         👎</a:t>
              </a:r>
              <a:endParaRPr sz="1139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Planned Updates</a:t>
            </a:r>
            <a:endParaRPr/>
          </a:p>
        </p:txBody>
      </p:sp>
      <p:sp>
        <p:nvSpPr>
          <p:cNvPr id="216" name="Google Shape;216;p28"/>
          <p:cNvSpPr txBox="1"/>
          <p:nvPr>
            <p:ph idx="1" type="body"/>
          </p:nvPr>
        </p:nvSpPr>
        <p:spPr>
          <a:xfrm>
            <a:off x="469900" y="1600200"/>
            <a:ext cx="82170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Previously mentioned updates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Model integration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Improved latency with the model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Light and dark themes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Incorporate more auditory feedback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Finalize audio channels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Vocal, drums, guitar, bass, </a:t>
            </a:r>
            <a:r>
              <a:rPr b="1" lang="en-US" sz="2000"/>
              <a:t>others</a:t>
            </a:r>
            <a:r>
              <a:rPr lang="en-US" sz="2000"/>
              <a:t>?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User-specific recommendations?</a:t>
            </a:r>
            <a:endParaRPr sz="2000"/>
          </a:p>
          <a:p>
            <a:pPr indent="0" lvl="0" marL="4572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Business People Think and Discussing Idea, Teamwork, Brainstorm Concept. Creative Team Man and Woman in Office (Provided by Getty Images)" id="217" name="Google Shape;21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3025" y="552625"/>
            <a:ext cx="3315077" cy="2444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man freelancer sitting at workplace business man looking in computer monitor working process concept (Provided by Getty Images)" id="218" name="Google Shape;21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5563" y="3357225"/>
            <a:ext cx="3549998" cy="216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