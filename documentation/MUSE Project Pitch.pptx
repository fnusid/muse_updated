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7023100" cy="9309100"/>
  <p:embeddedFontLst>
    <p:embeddedFont>
      <p:font typeface="Garamond"/>
      <p:regular r:id="rId9"/>
      <p:bold r:id="rId10"/>
      <p:italic r:id="rId11"/>
      <p:boldItalic r:id="rId12"/>
    </p:embeddedFon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aramond-italic.fntdata"/><Relationship Id="rId10" Type="http://schemas.openxmlformats.org/officeDocument/2006/relationships/font" Target="fonts/Garamond-bold.fntdata"/><Relationship Id="rId13" Type="http://schemas.openxmlformats.org/officeDocument/2006/relationships/font" Target="fonts/HelveticaNeue-regular.fntdata"/><Relationship Id="rId12" Type="http://schemas.openxmlformats.org/officeDocument/2006/relationships/font" Target="fonts/Garamon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Garamond-regular.fntdata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44970" cy="46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6505" y="0"/>
            <a:ext cx="3044970" cy="46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7450" y="700088"/>
            <a:ext cx="4649788" cy="34877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3937" y="4422855"/>
            <a:ext cx="5615229" cy="41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534"/>
            <a:ext cx="3044970" cy="464979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6505" y="8842534"/>
            <a:ext cx="3044970" cy="464979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faddd3d4_0_1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efaddd3d4_0_1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05cde2d6c_1_6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05cde2d6c_1_6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805cde2d6c_1_6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5cde2d6c_0_0:notes"/>
          <p:cNvSpPr/>
          <p:nvPr>
            <p:ph idx="2" type="sldImg"/>
          </p:nvPr>
        </p:nvSpPr>
        <p:spPr>
          <a:xfrm>
            <a:off x="1187450" y="700088"/>
            <a:ext cx="4649700" cy="348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5cde2d6c_0_0:notes"/>
          <p:cNvSpPr txBox="1"/>
          <p:nvPr>
            <p:ph idx="1" type="body"/>
          </p:nvPr>
        </p:nvSpPr>
        <p:spPr>
          <a:xfrm>
            <a:off x="703937" y="4422855"/>
            <a:ext cx="5615100" cy="4186500"/>
          </a:xfrm>
          <a:prstGeom prst="rect">
            <a:avLst/>
          </a:prstGeom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805cde2d6c_0_0:notes"/>
          <p:cNvSpPr txBox="1"/>
          <p:nvPr>
            <p:ph idx="12" type="sldNum"/>
          </p:nvPr>
        </p:nvSpPr>
        <p:spPr>
          <a:xfrm>
            <a:off x="3976505" y="8842534"/>
            <a:ext cx="3045000" cy="465000"/>
          </a:xfrm>
          <a:prstGeom prst="rect">
            <a:avLst/>
          </a:prstGeom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736725"/>
            <a:ext cx="7772400" cy="1920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196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24840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25157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254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69900" y="1600200"/>
            <a:ext cx="8216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▪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•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▪"/>
              <a:defRPr sz="2800"/>
            </a:lvl1pPr>
            <a:lvl2pPr indent="-335280" lvl="1" marL="914400" algn="l">
              <a:spcBef>
                <a:spcPts val="480"/>
              </a:spcBef>
              <a:spcAft>
                <a:spcPts val="0"/>
              </a:spcAft>
              <a:buSzPts val="1680"/>
              <a:buChar char="•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•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▪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1pPr>
            <a:lvl2pPr indent="-317500" lvl="1" marL="9144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•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▪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▪"/>
              <a:defRPr sz="3200"/>
            </a:lvl1pPr>
            <a:lvl2pPr indent="-353060" lvl="1" marL="914400" algn="l">
              <a:spcBef>
                <a:spcPts val="560"/>
              </a:spcBef>
              <a:spcAft>
                <a:spcPts val="0"/>
              </a:spcAft>
              <a:buSzPts val="1960"/>
              <a:buChar char="•"/>
              <a:defRPr sz="28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▪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SzPts val="1400"/>
              <a:buChar char="▪"/>
              <a:defRPr sz="2000"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rgbClr val="054C84"/>
              </a:buClr>
              <a:buSzPts val="2240"/>
              <a:buFont typeface="Noto Sans Symbols"/>
              <a:buNone/>
              <a:defRPr b="0" i="0" sz="32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54C84"/>
              </a:buClr>
              <a:buSzPts val="1960"/>
              <a:buFont typeface="Arial"/>
              <a:buNone/>
              <a:defRPr b="0" i="0" sz="2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54C84"/>
              </a:buClr>
              <a:buSzPts val="1680"/>
              <a:buFont typeface="Noto Sans Symbols"/>
              <a:buNone/>
              <a:defRPr b="0" i="0" sz="24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2315368" y="-245269"/>
            <a:ext cx="4525963" cy="8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▪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0" type="dt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1" type="ftr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469900" y="1600200"/>
            <a:ext cx="82169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054C84"/>
              </a:buClr>
              <a:buSzPts val="1960"/>
              <a:buFont typeface="Noto Sans Symbols"/>
              <a:buChar char="▪"/>
              <a:defRPr b="0" i="0" sz="2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054C84"/>
              </a:buClr>
              <a:buSzPts val="1680"/>
              <a:buFont typeface="Arial"/>
              <a:buChar char="•"/>
              <a:defRPr b="0" i="0" sz="24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400"/>
              <a:buFont typeface="Noto Sans Symbols"/>
              <a:buChar char="▪"/>
              <a:defRPr b="0" i="0" sz="20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200"/>
              <a:buFont typeface="Arial"/>
              <a:buChar char="•"/>
              <a:defRPr b="0" i="0" sz="1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54C84"/>
              </a:buClr>
              <a:buSzPts val="1200"/>
              <a:buFont typeface="Noto Sans Symbols"/>
              <a:buChar char="▪"/>
              <a:defRPr b="0" i="0" sz="1800" u="none" cap="none" strike="noStrike">
                <a:solidFill>
                  <a:srgbClr val="00051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Char char="■"/>
              <a:defRPr i="0" sz="18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469900" y="63500"/>
            <a:ext cx="842813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514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-50800" y="6356093"/>
            <a:ext cx="9245600" cy="522228"/>
          </a:xfrm>
          <a:prstGeom prst="rect">
            <a:avLst/>
          </a:prstGeom>
          <a:solidFill>
            <a:srgbClr val="0722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-50800" y="6345143"/>
            <a:ext cx="9245600" cy="0"/>
          </a:xfrm>
          <a:prstGeom prst="straightConnector1">
            <a:avLst/>
          </a:prstGeom>
          <a:noFill/>
          <a:ln cap="flat" cmpd="sng" w="38100">
            <a:solidFill>
              <a:srgbClr val="F8D7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pic>
        <p:nvPicPr>
          <p:cNvPr descr="CSE-marketing-formal-tall-rev.png" id="14" name="Google Shape;14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06738" y="6470122"/>
            <a:ext cx="2930525" cy="2936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mpedstudio.com/ai-in-music/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/>
        </p:nvSpPr>
        <p:spPr>
          <a:xfrm>
            <a:off x="225050" y="1001875"/>
            <a:ext cx="8267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400"/>
              <a:t>MUSE - M</a:t>
            </a:r>
            <a:r>
              <a:rPr lang="en-US" sz="3400"/>
              <a:t>achine</a:t>
            </a:r>
            <a:r>
              <a:rPr b="1" lang="en-US" sz="3400"/>
              <a:t> </a:t>
            </a:r>
            <a:r>
              <a:rPr lang="en-US" sz="3400"/>
              <a:t>enhanced</a:t>
            </a:r>
            <a:r>
              <a:rPr b="1" lang="en-US" sz="3400"/>
              <a:t> U</a:t>
            </a:r>
            <a:r>
              <a:rPr lang="en-US" sz="3400"/>
              <a:t>ser</a:t>
            </a:r>
            <a:r>
              <a:rPr b="1" lang="en-US" sz="3400"/>
              <a:t> S</a:t>
            </a:r>
            <a:r>
              <a:rPr lang="en-US" sz="3400"/>
              <a:t>ound</a:t>
            </a:r>
            <a:r>
              <a:rPr b="1" lang="en-US" sz="3400"/>
              <a:t> E</a:t>
            </a:r>
            <a:r>
              <a:rPr lang="en-US" sz="3400"/>
              <a:t>xperience</a:t>
            </a:r>
            <a:endParaRPr sz="3100">
              <a:solidFill>
                <a:srgbClr val="000514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3075525" y="3687625"/>
            <a:ext cx="571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66666"/>
                </a:solidFill>
              </a:rPr>
              <a:t>Shivam Arora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Aman Soni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Zubair Qazi</a:t>
            </a:r>
            <a:r>
              <a:rPr b="1" lang="en-US" sz="1600">
                <a:solidFill>
                  <a:srgbClr val="666666"/>
                </a:solidFill>
              </a:rPr>
              <a:t>, </a:t>
            </a:r>
            <a:r>
              <a:rPr b="1" lang="en-US" sz="1800">
                <a:solidFill>
                  <a:srgbClr val="666666"/>
                </a:solidFill>
              </a:rPr>
              <a:t>Sidharth</a:t>
            </a:r>
            <a:endParaRPr b="1" baseline="30000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514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3075525" y="4364725"/>
            <a:ext cx="5456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66666"/>
                </a:solidFill>
              </a:rPr>
              <a:t>Department of CSE, University of Michigan, Ann Arbor</a:t>
            </a:r>
            <a:endParaRPr b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5491950" y="35717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666666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98688" y="4364725"/>
            <a:ext cx="2303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514"/>
                </a:solidFill>
              </a:rPr>
              <a:t>Image taken from </a:t>
            </a:r>
            <a:r>
              <a:rPr lang="en-US" sz="1000" u="sng">
                <a:solidFill>
                  <a:schemeClr val="hlink"/>
                </a:solidFill>
                <a:hlinkClick r:id="rId3"/>
              </a:rPr>
              <a:t>https://ampedstudio.com/ai-in-music/</a:t>
            </a:r>
            <a:endParaRPr sz="1000">
              <a:solidFill>
                <a:srgbClr val="000514"/>
              </a:solidFill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88" y="2614925"/>
            <a:ext cx="2713537" cy="16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63500" y="2642500"/>
            <a:ext cx="8217000" cy="319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Current music apps rely on fixed equalizers and static presets, with little personalization.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Different listeners, different needs: neurodivergent users may be sensitive to noise, accessibility users may need clarity, and others want context-based mixes (workout vs studying).</a:t>
            </a:r>
            <a:br>
              <a:rPr lang="en-US" sz="2000">
                <a:solidFill>
                  <a:srgbClr val="000000"/>
                </a:solidFill>
              </a:rPr>
            </a:b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No system today learns and adapts in real time to a person’s preferred way of hearing music.</a:t>
            </a:r>
            <a:endParaRPr sz="2000"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686975" y="1587175"/>
            <a:ext cx="7071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999999"/>
                </a:solidFill>
              </a:rPr>
              <a:t>Domain: Audio HAI</a:t>
            </a:r>
            <a:endParaRPr b="1" sz="28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69900" y="63500"/>
            <a:ext cx="8428200" cy="95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Goals for User Research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63500" y="1438175"/>
            <a:ext cx="8217000" cy="440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Understand the users’: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satisfaction or </a:t>
            </a:r>
            <a:r>
              <a:rPr lang="en-US" sz="2000">
                <a:solidFill>
                  <a:srgbClr val="000000"/>
                </a:solidFill>
              </a:rPr>
              <a:t>dissatisfaction</a:t>
            </a:r>
            <a:r>
              <a:rPr lang="en-US" sz="2000">
                <a:solidFill>
                  <a:srgbClr val="000000"/>
                </a:solidFill>
              </a:rPr>
              <a:t> with current systems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requirements for a new system</a:t>
            </a:r>
            <a:endParaRPr sz="20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Prioritize user-driven or AI-driven experience?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UI/UX feedback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</a:pPr>
            <a:r>
              <a:rPr lang="en-US" sz="2000">
                <a:solidFill>
                  <a:srgbClr val="000000"/>
                </a:solidFill>
              </a:rPr>
              <a:t>Potential constraints of the system</a:t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