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9144000"/>
  <p:notesSz cx="7023100" cy="9309100"/>
  <p:embeddedFontLst>
    <p:embeddedFont>
      <p:font typeface="Garamond"/>
      <p:regular r:id="rId22"/>
      <p:bold r:id="rId23"/>
      <p:italic r:id="rId24"/>
      <p:boldItalic r:id="rId25"/>
    </p:embeddedFont>
    <p:embeddedFont>
      <p:font typeface="Helvetica Neue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Garamond-regular.fntdata"/><Relationship Id="rId21" Type="http://schemas.openxmlformats.org/officeDocument/2006/relationships/slide" Target="slides/slide16.xml"/><Relationship Id="rId24" Type="http://schemas.openxmlformats.org/officeDocument/2006/relationships/font" Target="fonts/Garamond-italic.fntdata"/><Relationship Id="rId23" Type="http://schemas.openxmlformats.org/officeDocument/2006/relationships/font" Target="fonts/Garamon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elveticaNeue-regular.fntdata"/><Relationship Id="rId25" Type="http://schemas.openxmlformats.org/officeDocument/2006/relationships/font" Target="fonts/Garamond-boldItalic.fntdata"/><Relationship Id="rId28" Type="http://schemas.openxmlformats.org/officeDocument/2006/relationships/font" Target="fonts/HelveticaNeue-italic.fntdata"/><Relationship Id="rId27" Type="http://schemas.openxmlformats.org/officeDocument/2006/relationships/font" Target="fonts/HelveticaNeu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elveticaNeue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44970" cy="463392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6505" y="0"/>
            <a:ext cx="3044970" cy="463392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87450" y="700088"/>
            <a:ext cx="4649788" cy="3487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3937" y="4422855"/>
            <a:ext cx="5615229" cy="4186397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42534"/>
            <a:ext cx="3044970" cy="464979"/>
          </a:xfrm>
          <a:prstGeom prst="rect">
            <a:avLst/>
          </a:prstGeom>
          <a:noFill/>
          <a:ln>
            <a:noFill/>
          </a:ln>
        </p:spPr>
        <p:txBody>
          <a:bodyPr anchorCtr="0" anchor="b" bIns="46550" lIns="93125" spcFirstLastPara="1" rIns="93125" wrap="square" tIns="46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6505" y="8842534"/>
            <a:ext cx="3044970" cy="464979"/>
          </a:xfrm>
          <a:prstGeom prst="rect">
            <a:avLst/>
          </a:prstGeom>
          <a:noFill/>
          <a:ln>
            <a:noFill/>
          </a:ln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efaddd3d4_0_1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7efaddd3d4_0_1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d67a88247_0_0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8d67a88247_0_0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8d67a88247_0_0:notes"/>
          <p:cNvSpPr txBox="1"/>
          <p:nvPr>
            <p:ph idx="12" type="sldNum"/>
          </p:nvPr>
        </p:nvSpPr>
        <p:spPr>
          <a:xfrm>
            <a:off x="3976505" y="8842534"/>
            <a:ext cx="3045000" cy="465000"/>
          </a:xfrm>
          <a:prstGeom prst="rect">
            <a:avLst/>
          </a:prstGeom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05cde2d6c_1_6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05cde2d6c_1_6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805cde2d6c_1_6:notes"/>
          <p:cNvSpPr txBox="1"/>
          <p:nvPr>
            <p:ph idx="12" type="sldNum"/>
          </p:nvPr>
        </p:nvSpPr>
        <p:spPr>
          <a:xfrm>
            <a:off x="3976505" y="8842534"/>
            <a:ext cx="3045000" cy="465000"/>
          </a:xfrm>
          <a:prstGeom prst="rect">
            <a:avLst/>
          </a:prstGeom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05cde2d6c_0_0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05cde2d6c_0_0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805cde2d6c_0_0:notes"/>
          <p:cNvSpPr txBox="1"/>
          <p:nvPr>
            <p:ph idx="12" type="sldNum"/>
          </p:nvPr>
        </p:nvSpPr>
        <p:spPr>
          <a:xfrm>
            <a:off x="3976505" y="8842534"/>
            <a:ext cx="3045000" cy="465000"/>
          </a:xfrm>
          <a:prstGeom prst="rect">
            <a:avLst/>
          </a:prstGeom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d67a8828c_1_2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8d67a8828c_1_2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8d67a8828c_1_2:notes"/>
          <p:cNvSpPr txBox="1"/>
          <p:nvPr>
            <p:ph idx="12" type="sldNum"/>
          </p:nvPr>
        </p:nvSpPr>
        <p:spPr>
          <a:xfrm>
            <a:off x="3976505" y="8842534"/>
            <a:ext cx="3045000" cy="465000"/>
          </a:xfrm>
          <a:prstGeom prst="rect">
            <a:avLst/>
          </a:prstGeom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d67a8828c_2_1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8d67a8828c_2_1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8d67a8828c_2_1:notes"/>
          <p:cNvSpPr txBox="1"/>
          <p:nvPr>
            <p:ph idx="12" type="sldNum"/>
          </p:nvPr>
        </p:nvSpPr>
        <p:spPr>
          <a:xfrm>
            <a:off x="3976505" y="8842534"/>
            <a:ext cx="3045000" cy="465000"/>
          </a:xfrm>
          <a:prstGeom prst="rect">
            <a:avLst/>
          </a:prstGeom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8d67a8828c_2_12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8d67a8828c_2_12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8d67a8828c_2_12:notes"/>
          <p:cNvSpPr txBox="1"/>
          <p:nvPr>
            <p:ph idx="12" type="sldNum"/>
          </p:nvPr>
        </p:nvSpPr>
        <p:spPr>
          <a:xfrm>
            <a:off x="3976505" y="8842534"/>
            <a:ext cx="3045000" cy="465000"/>
          </a:xfrm>
          <a:prstGeom prst="rect">
            <a:avLst/>
          </a:prstGeom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8d67a8828c_2_21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8d67a8828c_2_21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8d67a8828c_2_21:notes"/>
          <p:cNvSpPr txBox="1"/>
          <p:nvPr>
            <p:ph idx="12" type="sldNum"/>
          </p:nvPr>
        </p:nvSpPr>
        <p:spPr>
          <a:xfrm>
            <a:off x="3976505" y="8842534"/>
            <a:ext cx="3045000" cy="465000"/>
          </a:xfrm>
          <a:prstGeom prst="rect">
            <a:avLst/>
          </a:prstGeom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d67a8828c_1_10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8d67a8828c_1_10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8d67a8828c_1_10:notes"/>
          <p:cNvSpPr txBox="1"/>
          <p:nvPr>
            <p:ph idx="12" type="sldNum"/>
          </p:nvPr>
        </p:nvSpPr>
        <p:spPr>
          <a:xfrm>
            <a:off x="3976505" y="8842534"/>
            <a:ext cx="3045000" cy="465000"/>
          </a:xfrm>
          <a:prstGeom prst="rect">
            <a:avLst/>
          </a:prstGeom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d67a8828c_1_21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8d67a8828c_1_21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8d67a8828c_1_21:notes"/>
          <p:cNvSpPr txBox="1"/>
          <p:nvPr>
            <p:ph idx="12" type="sldNum"/>
          </p:nvPr>
        </p:nvSpPr>
        <p:spPr>
          <a:xfrm>
            <a:off x="3976505" y="8842534"/>
            <a:ext cx="3045000" cy="465000"/>
          </a:xfrm>
          <a:prstGeom prst="rect">
            <a:avLst/>
          </a:prstGeom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d67a8828c_1_27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8d67a8828c_1_27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8d67a8828c_1_27:notes"/>
          <p:cNvSpPr txBox="1"/>
          <p:nvPr>
            <p:ph idx="12" type="sldNum"/>
          </p:nvPr>
        </p:nvSpPr>
        <p:spPr>
          <a:xfrm>
            <a:off x="3976505" y="8842534"/>
            <a:ext cx="3045000" cy="465000"/>
          </a:xfrm>
          <a:prstGeom prst="rect">
            <a:avLst/>
          </a:prstGeom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d67a8828c_1_33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8d67a8828c_1_33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8d67a8828c_1_33:notes"/>
          <p:cNvSpPr txBox="1"/>
          <p:nvPr>
            <p:ph idx="12" type="sldNum"/>
          </p:nvPr>
        </p:nvSpPr>
        <p:spPr>
          <a:xfrm>
            <a:off x="3976505" y="8842534"/>
            <a:ext cx="3045000" cy="465000"/>
          </a:xfrm>
          <a:prstGeom prst="rect">
            <a:avLst/>
          </a:prstGeom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d67a8828c_1_54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8d67a8828c_1_54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8d67a8828c_1_54:notes"/>
          <p:cNvSpPr txBox="1"/>
          <p:nvPr>
            <p:ph idx="12" type="sldNum"/>
          </p:nvPr>
        </p:nvSpPr>
        <p:spPr>
          <a:xfrm>
            <a:off x="3976505" y="8842534"/>
            <a:ext cx="3045000" cy="465000"/>
          </a:xfrm>
          <a:prstGeom prst="rect">
            <a:avLst/>
          </a:prstGeom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8d67a8828c_1_61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8d67a8828c_1_61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8d67a8828c_1_61:notes"/>
          <p:cNvSpPr txBox="1"/>
          <p:nvPr>
            <p:ph idx="12" type="sldNum"/>
          </p:nvPr>
        </p:nvSpPr>
        <p:spPr>
          <a:xfrm>
            <a:off x="3976505" y="8842534"/>
            <a:ext cx="3045000" cy="465000"/>
          </a:xfrm>
          <a:prstGeom prst="rect">
            <a:avLst/>
          </a:prstGeom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8d67a8828c_1_69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8d67a8828c_1_69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8d67a8828c_1_69:notes"/>
          <p:cNvSpPr txBox="1"/>
          <p:nvPr>
            <p:ph idx="12" type="sldNum"/>
          </p:nvPr>
        </p:nvSpPr>
        <p:spPr>
          <a:xfrm>
            <a:off x="3976505" y="8842534"/>
            <a:ext cx="3045000" cy="465000"/>
          </a:xfrm>
          <a:prstGeom prst="rect">
            <a:avLst/>
          </a:prstGeom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8d67a8828c_1_77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8d67a8828c_1_77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8d67a8828c_1_77:notes"/>
          <p:cNvSpPr txBox="1"/>
          <p:nvPr>
            <p:ph idx="12" type="sldNum"/>
          </p:nvPr>
        </p:nvSpPr>
        <p:spPr>
          <a:xfrm>
            <a:off x="3976505" y="8842534"/>
            <a:ext cx="3045000" cy="465000"/>
          </a:xfrm>
          <a:prstGeom prst="rect">
            <a:avLst/>
          </a:prstGeom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1736725"/>
            <a:ext cx="7772400" cy="1920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SzPts val="1960"/>
              <a:buFont typeface="Noto Sans Symbols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260"/>
              <a:buChar char="•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•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24840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25157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254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69900" y="63500"/>
            <a:ext cx="842813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469900" y="1600200"/>
            <a:ext cx="82169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/>
            </a:lvl1pPr>
            <a:lvl2pPr indent="-308610" lvl="1" marL="914400" algn="l">
              <a:spcBef>
                <a:spcPts val="360"/>
              </a:spcBef>
              <a:spcAft>
                <a:spcPts val="0"/>
              </a:spcAft>
              <a:buSzPts val="1260"/>
              <a:buChar char="•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•"/>
              <a:defRPr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469900" y="63500"/>
            <a:ext cx="842813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3060" lvl="0" marL="457200" algn="l">
              <a:spcBef>
                <a:spcPts val="560"/>
              </a:spcBef>
              <a:spcAft>
                <a:spcPts val="0"/>
              </a:spcAft>
              <a:buSzPts val="1960"/>
              <a:buChar char="▪"/>
              <a:defRPr sz="2800"/>
            </a:lvl1pPr>
            <a:lvl2pPr indent="-335280" lvl="1" marL="914400" algn="l">
              <a:spcBef>
                <a:spcPts val="480"/>
              </a:spcBef>
              <a:spcAft>
                <a:spcPts val="0"/>
              </a:spcAft>
              <a:buSzPts val="1680"/>
              <a:buChar char="•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▪"/>
              <a:defRPr sz="2000"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•"/>
              <a:defRPr sz="1800"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 sz="1800"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 sz="1800"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 sz="1800"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 sz="1800"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 sz="18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3060" lvl="0" marL="457200" algn="l">
              <a:spcBef>
                <a:spcPts val="560"/>
              </a:spcBef>
              <a:spcAft>
                <a:spcPts val="0"/>
              </a:spcAft>
              <a:buSzPts val="1960"/>
              <a:buChar char="▪"/>
              <a:defRPr sz="2800"/>
            </a:lvl1pPr>
            <a:lvl2pPr indent="-335280" lvl="1" marL="914400" algn="l">
              <a:spcBef>
                <a:spcPts val="480"/>
              </a:spcBef>
              <a:spcAft>
                <a:spcPts val="0"/>
              </a:spcAft>
              <a:buSzPts val="1680"/>
              <a:buChar char="•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▪"/>
              <a:defRPr sz="2000"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•"/>
              <a:defRPr sz="1800"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 sz="1800"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 sz="1800"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 sz="1800"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 sz="1800"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 sz="1800"/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69900" y="63500"/>
            <a:ext cx="842813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68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480"/>
              </a:spcBef>
              <a:spcAft>
                <a:spcPts val="0"/>
              </a:spcAft>
              <a:buSzPts val="1680"/>
              <a:buChar char="▪"/>
              <a:defRPr sz="2400"/>
            </a:lvl1pPr>
            <a:lvl2pPr indent="-317500" lvl="1" marL="914400" algn="l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 sz="1800"/>
            </a:lvl3pPr>
            <a:lvl4pPr indent="-299719" lvl="3" marL="1828800" algn="l">
              <a:spcBef>
                <a:spcPts val="320"/>
              </a:spcBef>
              <a:spcAft>
                <a:spcPts val="0"/>
              </a:spcAft>
              <a:buSzPts val="1120"/>
              <a:buChar char="•"/>
              <a:defRPr sz="1600"/>
            </a:lvl4pPr>
            <a:lvl5pPr indent="-299720" lvl="4" marL="2286000" algn="l">
              <a:spcBef>
                <a:spcPts val="320"/>
              </a:spcBef>
              <a:spcAft>
                <a:spcPts val="0"/>
              </a:spcAft>
              <a:buSzPts val="1120"/>
              <a:buChar char="▪"/>
              <a:defRPr sz="1600"/>
            </a:lvl5pPr>
            <a:lvl6pPr indent="-299720" lvl="5" marL="2743200" algn="l">
              <a:spcBef>
                <a:spcPts val="320"/>
              </a:spcBef>
              <a:spcAft>
                <a:spcPts val="0"/>
              </a:spcAft>
              <a:buSzPts val="1120"/>
              <a:buChar char="■"/>
              <a:defRPr sz="1600"/>
            </a:lvl6pPr>
            <a:lvl7pPr indent="-299720" lvl="6" marL="3200400" algn="l">
              <a:spcBef>
                <a:spcPts val="320"/>
              </a:spcBef>
              <a:spcAft>
                <a:spcPts val="0"/>
              </a:spcAft>
              <a:buSzPts val="1120"/>
              <a:buChar char="■"/>
              <a:defRPr sz="1600"/>
            </a:lvl7pPr>
            <a:lvl8pPr indent="-299720" lvl="7" marL="3657600" algn="l">
              <a:spcBef>
                <a:spcPts val="320"/>
              </a:spcBef>
              <a:spcAft>
                <a:spcPts val="0"/>
              </a:spcAft>
              <a:buSzPts val="1120"/>
              <a:buChar char="■"/>
              <a:defRPr sz="1600"/>
            </a:lvl8pPr>
            <a:lvl9pPr indent="-299720" lvl="8" marL="4114800" algn="l">
              <a:spcBef>
                <a:spcPts val="320"/>
              </a:spcBef>
              <a:spcAft>
                <a:spcPts val="0"/>
              </a:spcAft>
              <a:buSzPts val="1120"/>
              <a:buChar char="■"/>
              <a:defRPr sz="1600"/>
            </a:lvl9pPr>
          </a:lstStyle>
          <a:p/>
        </p:txBody>
      </p:sp>
      <p:sp>
        <p:nvSpPr>
          <p:cNvPr id="41" name="Google Shape;41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68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42" name="Google Shape;42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480"/>
              </a:spcBef>
              <a:spcAft>
                <a:spcPts val="0"/>
              </a:spcAft>
              <a:buSzPts val="1680"/>
              <a:buChar char="▪"/>
              <a:defRPr sz="2400"/>
            </a:lvl1pPr>
            <a:lvl2pPr indent="-317500" lvl="1" marL="914400" algn="l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 sz="1800"/>
            </a:lvl3pPr>
            <a:lvl4pPr indent="-299719" lvl="3" marL="1828800" algn="l">
              <a:spcBef>
                <a:spcPts val="320"/>
              </a:spcBef>
              <a:spcAft>
                <a:spcPts val="0"/>
              </a:spcAft>
              <a:buSzPts val="1120"/>
              <a:buChar char="•"/>
              <a:defRPr sz="1600"/>
            </a:lvl4pPr>
            <a:lvl5pPr indent="-299720" lvl="4" marL="2286000" algn="l">
              <a:spcBef>
                <a:spcPts val="320"/>
              </a:spcBef>
              <a:spcAft>
                <a:spcPts val="0"/>
              </a:spcAft>
              <a:buSzPts val="1120"/>
              <a:buChar char="▪"/>
              <a:defRPr sz="1600"/>
            </a:lvl5pPr>
            <a:lvl6pPr indent="-299720" lvl="5" marL="2743200" algn="l">
              <a:spcBef>
                <a:spcPts val="320"/>
              </a:spcBef>
              <a:spcAft>
                <a:spcPts val="0"/>
              </a:spcAft>
              <a:buSzPts val="1120"/>
              <a:buChar char="■"/>
              <a:defRPr sz="1600"/>
            </a:lvl6pPr>
            <a:lvl7pPr indent="-299720" lvl="6" marL="3200400" algn="l">
              <a:spcBef>
                <a:spcPts val="320"/>
              </a:spcBef>
              <a:spcAft>
                <a:spcPts val="0"/>
              </a:spcAft>
              <a:buSzPts val="1120"/>
              <a:buChar char="■"/>
              <a:defRPr sz="1600"/>
            </a:lvl7pPr>
            <a:lvl8pPr indent="-299720" lvl="7" marL="3657600" algn="l">
              <a:spcBef>
                <a:spcPts val="320"/>
              </a:spcBef>
              <a:spcAft>
                <a:spcPts val="0"/>
              </a:spcAft>
              <a:buSzPts val="1120"/>
              <a:buChar char="■"/>
              <a:defRPr sz="1600"/>
            </a:lvl8pPr>
            <a:lvl9pPr indent="-299720" lvl="8" marL="4114800" algn="l">
              <a:spcBef>
                <a:spcPts val="320"/>
              </a:spcBef>
              <a:spcAft>
                <a:spcPts val="0"/>
              </a:spcAft>
              <a:buSzPts val="1120"/>
              <a:buChar char="■"/>
              <a:defRPr sz="1600"/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69900" y="63500"/>
            <a:ext cx="842813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idx="10" type="dt"/>
          </p:nvPr>
        </p:nvSpPr>
        <p:spPr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51" name="Google Shape;51;p8"/>
          <p:cNvSpPr txBox="1"/>
          <p:nvPr>
            <p:ph idx="11" type="ftr"/>
          </p:nvPr>
        </p:nvSpPr>
        <p:spPr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algn="l">
              <a:spcBef>
                <a:spcPts val="640"/>
              </a:spcBef>
              <a:spcAft>
                <a:spcPts val="0"/>
              </a:spcAft>
              <a:buSzPts val="2240"/>
              <a:buChar char="▪"/>
              <a:defRPr sz="3200"/>
            </a:lvl1pPr>
            <a:lvl2pPr indent="-353060" lvl="1" marL="914400" algn="l">
              <a:spcBef>
                <a:spcPts val="560"/>
              </a:spcBef>
              <a:spcAft>
                <a:spcPts val="0"/>
              </a:spcAft>
              <a:buSzPts val="1960"/>
              <a:buChar char="•"/>
              <a:defRPr sz="2800"/>
            </a:lvl2pPr>
            <a:lvl3pPr indent="-335280" lvl="2" marL="1371600" algn="l">
              <a:spcBef>
                <a:spcPts val="480"/>
              </a:spcBef>
              <a:spcAft>
                <a:spcPts val="0"/>
              </a:spcAft>
              <a:buSzPts val="1680"/>
              <a:buChar char="▪"/>
              <a:defRPr sz="2400"/>
            </a:lvl3pPr>
            <a:lvl4pPr indent="-317500" lvl="3" marL="1828800" algn="l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/>
            </a:lvl4pPr>
            <a:lvl5pPr indent="-317500" lvl="4" marL="2286000" algn="l">
              <a:spcBef>
                <a:spcPts val="400"/>
              </a:spcBef>
              <a:spcAft>
                <a:spcPts val="0"/>
              </a:spcAft>
              <a:buSzPts val="1400"/>
              <a:buChar char="▪"/>
              <a:defRPr sz="2000"/>
            </a:lvl5pPr>
            <a:lvl6pPr indent="-317500" lvl="5" marL="2743200" algn="l"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2000"/>
            </a:lvl6pPr>
            <a:lvl7pPr indent="-317500" lvl="6" marL="3200400" algn="l"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2000"/>
            </a:lvl7pPr>
            <a:lvl8pPr indent="-317500" lvl="7" marL="3657600" algn="l"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2000"/>
            </a:lvl8pPr>
            <a:lvl9pPr indent="-317500" lvl="8" marL="4114800" algn="l"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2000"/>
            </a:lvl9pPr>
          </a:lstStyle>
          <a:p/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56" name="Google Shape;56;p9"/>
          <p:cNvSpPr txBox="1"/>
          <p:nvPr>
            <p:ph idx="10" type="dt"/>
          </p:nvPr>
        </p:nvSpPr>
        <p:spPr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57" name="Google Shape;57;p9"/>
          <p:cNvSpPr txBox="1"/>
          <p:nvPr>
            <p:ph idx="11" type="ftr"/>
          </p:nvPr>
        </p:nvSpPr>
        <p:spPr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rgbClr val="054C84"/>
              </a:buClr>
              <a:buSzPts val="2240"/>
              <a:buFont typeface="Noto Sans Symbols"/>
              <a:buNone/>
              <a:defRPr b="0" i="0" sz="3200" u="none" cap="none" strike="noStrike">
                <a:solidFill>
                  <a:srgbClr val="00051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rgbClr val="054C84"/>
              </a:buClr>
              <a:buSzPts val="1960"/>
              <a:buFont typeface="Arial"/>
              <a:buNone/>
              <a:defRPr b="0" i="0" sz="2800" u="none" cap="none" strike="noStrike">
                <a:solidFill>
                  <a:srgbClr val="000514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rgbClr val="054C84"/>
              </a:buClr>
              <a:buSzPts val="1680"/>
              <a:buFont typeface="Noto Sans Symbols"/>
              <a:buNone/>
              <a:defRPr b="0" i="0" sz="2400" u="none" cap="none" strike="noStrike">
                <a:solidFill>
                  <a:srgbClr val="000514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rgbClr val="054C84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514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rgbClr val="054C84"/>
              </a:buClr>
              <a:buSzPts val="1400"/>
              <a:buFont typeface="Noto Sans Symbols"/>
              <a:buNone/>
              <a:defRPr b="0" i="0" sz="2000" u="none" cap="none" strike="noStrike">
                <a:solidFill>
                  <a:srgbClr val="000514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469900" y="63500"/>
            <a:ext cx="842813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 rot="5400000">
            <a:off x="2315368" y="-245269"/>
            <a:ext cx="4525963" cy="8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/>
            </a:lvl1pPr>
            <a:lvl2pPr indent="-308610" lvl="1" marL="914400" algn="l">
              <a:spcBef>
                <a:spcPts val="360"/>
              </a:spcBef>
              <a:spcAft>
                <a:spcPts val="0"/>
              </a:spcAft>
              <a:buSzPts val="1260"/>
              <a:buChar char="•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•"/>
              <a:defRPr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/>
            </a:lvl1pPr>
            <a:lvl2pPr indent="-308610" lvl="1" marL="914400" algn="l">
              <a:spcBef>
                <a:spcPts val="360"/>
              </a:spcBef>
              <a:spcAft>
                <a:spcPts val="0"/>
              </a:spcAft>
              <a:buSzPts val="1260"/>
              <a:buChar char="•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•"/>
              <a:defRPr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0" type="dt"/>
          </p:nvPr>
        </p:nvSpPr>
        <p:spPr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73" name="Google Shape;73;p12"/>
          <p:cNvSpPr txBox="1"/>
          <p:nvPr>
            <p:ph idx="11" type="ftr"/>
          </p:nvPr>
        </p:nvSpPr>
        <p:spPr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" type="body"/>
          </p:nvPr>
        </p:nvSpPr>
        <p:spPr>
          <a:xfrm>
            <a:off x="469900" y="1600200"/>
            <a:ext cx="82169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3060" lvl="0" marL="457200" marR="0" rtl="0" algn="l">
              <a:spcBef>
                <a:spcPts val="560"/>
              </a:spcBef>
              <a:spcAft>
                <a:spcPts val="0"/>
              </a:spcAft>
              <a:buClr>
                <a:srgbClr val="054C84"/>
              </a:buClr>
              <a:buSzPts val="1960"/>
              <a:buFont typeface="Noto Sans Symbols"/>
              <a:buChar char="▪"/>
              <a:defRPr b="0" i="0" sz="2800" u="none" cap="none" strike="noStrike">
                <a:solidFill>
                  <a:srgbClr val="00051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280" lvl="1" marL="914400" marR="0" rtl="0" algn="l">
              <a:spcBef>
                <a:spcPts val="480"/>
              </a:spcBef>
              <a:spcAft>
                <a:spcPts val="0"/>
              </a:spcAft>
              <a:buClr>
                <a:srgbClr val="054C84"/>
              </a:buClr>
              <a:buSzPts val="1680"/>
              <a:buFont typeface="Arial"/>
              <a:buChar char="•"/>
              <a:defRPr b="0" i="0" sz="2400" u="none" cap="none" strike="noStrike">
                <a:solidFill>
                  <a:srgbClr val="00051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spcBef>
                <a:spcPts val="400"/>
              </a:spcBef>
              <a:spcAft>
                <a:spcPts val="0"/>
              </a:spcAft>
              <a:buClr>
                <a:srgbClr val="054C84"/>
              </a:buClr>
              <a:buSzPts val="1400"/>
              <a:buFont typeface="Noto Sans Symbols"/>
              <a:buChar char="▪"/>
              <a:defRPr b="0" i="0" sz="2000" u="none" cap="none" strike="noStrike">
                <a:solidFill>
                  <a:srgbClr val="00051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054C84"/>
              </a:buClr>
              <a:buSzPts val="1200"/>
              <a:buFont typeface="Arial"/>
              <a:buChar char="•"/>
              <a:defRPr b="0" i="0" sz="1800" u="none" cap="none" strike="noStrike">
                <a:solidFill>
                  <a:srgbClr val="00051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054C84"/>
              </a:buClr>
              <a:buSzPts val="1200"/>
              <a:buFont typeface="Noto Sans Symbols"/>
              <a:buChar char="▪"/>
              <a:defRPr b="0" i="0" sz="1800" u="none" cap="none" strike="noStrike">
                <a:solidFill>
                  <a:srgbClr val="00051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Char char="■"/>
              <a:defRPr i="0" sz="1800" u="none" cap="none" strike="noStrike">
                <a:solidFill>
                  <a:schemeClr val="dk1"/>
                </a:solidFill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Char char="■"/>
              <a:defRPr i="0" sz="1800" u="none" cap="none" strike="noStrike">
                <a:solidFill>
                  <a:schemeClr val="dk1"/>
                </a:solidFill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Char char="■"/>
              <a:defRPr i="0" sz="1800" u="none" cap="none" strike="noStrike">
                <a:solidFill>
                  <a:schemeClr val="dk1"/>
                </a:solidFill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Char char="■"/>
              <a:defRPr i="0" sz="1800" u="none" cap="none" strike="noStrike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type="title"/>
          </p:nvPr>
        </p:nvSpPr>
        <p:spPr>
          <a:xfrm>
            <a:off x="469900" y="63500"/>
            <a:ext cx="842813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514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2" name="Google Shape;12;p1"/>
          <p:cNvSpPr/>
          <p:nvPr/>
        </p:nvSpPr>
        <p:spPr>
          <a:xfrm>
            <a:off x="-50800" y="6356093"/>
            <a:ext cx="9245600" cy="522228"/>
          </a:xfrm>
          <a:prstGeom prst="rect">
            <a:avLst/>
          </a:prstGeom>
          <a:solidFill>
            <a:srgbClr val="0722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13" name="Google Shape;13;p1"/>
          <p:cNvCxnSpPr/>
          <p:nvPr/>
        </p:nvCxnSpPr>
        <p:spPr>
          <a:xfrm>
            <a:off x="-50800" y="6345143"/>
            <a:ext cx="9245600" cy="0"/>
          </a:xfrm>
          <a:prstGeom prst="straightConnector1">
            <a:avLst/>
          </a:prstGeom>
          <a:noFill/>
          <a:ln cap="flat" cmpd="sng" w="38100">
            <a:solidFill>
              <a:srgbClr val="F8D71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pic>
        <p:nvPicPr>
          <p:cNvPr descr="CSE-marketing-formal-tall-rev.png" id="14" name="Google Shape;14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106738" y="6470122"/>
            <a:ext cx="2930525" cy="29368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mpedstudio.com/ai-in-music/" TargetMode="External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/>
          <p:nvPr/>
        </p:nvSpPr>
        <p:spPr>
          <a:xfrm>
            <a:off x="225050" y="1001875"/>
            <a:ext cx="82671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400"/>
              <a:t>MUSE - M</a:t>
            </a:r>
            <a:r>
              <a:rPr lang="en-US" sz="3400"/>
              <a:t>achine</a:t>
            </a:r>
            <a:r>
              <a:rPr b="1" lang="en-US" sz="3400"/>
              <a:t> </a:t>
            </a:r>
            <a:r>
              <a:rPr lang="en-US" sz="3400"/>
              <a:t>enhanced</a:t>
            </a:r>
            <a:r>
              <a:rPr b="1" lang="en-US" sz="3400"/>
              <a:t> U</a:t>
            </a:r>
            <a:r>
              <a:rPr lang="en-US" sz="3400"/>
              <a:t>ser</a:t>
            </a:r>
            <a:r>
              <a:rPr b="1" lang="en-US" sz="3400"/>
              <a:t> S</a:t>
            </a:r>
            <a:r>
              <a:rPr lang="en-US" sz="3400"/>
              <a:t>ound</a:t>
            </a:r>
            <a:r>
              <a:rPr b="1" lang="en-US" sz="3400"/>
              <a:t> E</a:t>
            </a:r>
            <a:r>
              <a:rPr lang="en-US" sz="3400"/>
              <a:t>xperience</a:t>
            </a:r>
            <a:endParaRPr sz="3100">
              <a:solidFill>
                <a:srgbClr val="000514"/>
              </a:solidFill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3075525" y="3687625"/>
            <a:ext cx="5716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666666"/>
                </a:solidFill>
              </a:rPr>
              <a:t>Shivam Arora</a:t>
            </a:r>
            <a:r>
              <a:rPr b="1" lang="en-US" sz="1600">
                <a:solidFill>
                  <a:srgbClr val="666666"/>
                </a:solidFill>
              </a:rPr>
              <a:t>, </a:t>
            </a:r>
            <a:r>
              <a:rPr b="1" lang="en-US" sz="1800">
                <a:solidFill>
                  <a:srgbClr val="666666"/>
                </a:solidFill>
              </a:rPr>
              <a:t>Aman Soni</a:t>
            </a:r>
            <a:r>
              <a:rPr b="1" lang="en-US" sz="1600">
                <a:solidFill>
                  <a:srgbClr val="666666"/>
                </a:solidFill>
              </a:rPr>
              <a:t>, </a:t>
            </a:r>
            <a:r>
              <a:rPr b="1" lang="en-US" sz="1800">
                <a:solidFill>
                  <a:srgbClr val="666666"/>
                </a:solidFill>
              </a:rPr>
              <a:t>Zubair Qazi</a:t>
            </a:r>
            <a:r>
              <a:rPr b="1" lang="en-US" sz="1600">
                <a:solidFill>
                  <a:srgbClr val="666666"/>
                </a:solidFill>
              </a:rPr>
              <a:t>, </a:t>
            </a:r>
            <a:r>
              <a:rPr b="1" lang="en-US" sz="1800">
                <a:solidFill>
                  <a:srgbClr val="666666"/>
                </a:solidFill>
              </a:rPr>
              <a:t>Sidharth</a:t>
            </a:r>
            <a:endParaRPr b="1" baseline="30000"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51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514"/>
              </a:solidFill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3075525" y="4364725"/>
            <a:ext cx="5456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666666"/>
                </a:solidFill>
              </a:rPr>
              <a:t>Department of CSE, University of Michigan, Ann Arbor</a:t>
            </a:r>
            <a:endParaRPr b="1"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666666"/>
              </a:solidFill>
            </a:endParaRPr>
          </a:p>
        </p:txBody>
      </p:sp>
      <p:sp>
        <p:nvSpPr>
          <p:cNvPr id="81" name="Google Shape;81;p13"/>
          <p:cNvSpPr txBox="1"/>
          <p:nvPr/>
        </p:nvSpPr>
        <p:spPr>
          <a:xfrm>
            <a:off x="5491950" y="3571725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666666"/>
              </a:solidFill>
            </a:endParaRPr>
          </a:p>
        </p:txBody>
      </p:sp>
      <p:sp>
        <p:nvSpPr>
          <p:cNvPr id="82" name="Google Shape;82;p13"/>
          <p:cNvSpPr txBox="1"/>
          <p:nvPr/>
        </p:nvSpPr>
        <p:spPr>
          <a:xfrm>
            <a:off x="98688" y="4364725"/>
            <a:ext cx="23034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514"/>
                </a:solidFill>
              </a:rPr>
              <a:t>Image taken from </a:t>
            </a:r>
            <a:r>
              <a:rPr lang="en-US" sz="1000" u="sng">
                <a:solidFill>
                  <a:schemeClr val="hlink"/>
                </a:solidFill>
                <a:hlinkClick r:id="rId3"/>
              </a:rPr>
              <a:t>https://ampedstudio.com/ai-in-music/</a:t>
            </a:r>
            <a:endParaRPr sz="1000">
              <a:solidFill>
                <a:srgbClr val="000514"/>
              </a:solidFill>
            </a:endParaRPr>
          </a:p>
        </p:txBody>
      </p:sp>
      <p:pic>
        <p:nvPicPr>
          <p:cNvPr id="83" name="Google Shape;83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688" y="2614925"/>
            <a:ext cx="2713537" cy="166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type="title"/>
          </p:nvPr>
        </p:nvSpPr>
        <p:spPr>
          <a:xfrm>
            <a:off x="469900" y="63500"/>
            <a:ext cx="8428200" cy="95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Recap</a:t>
            </a:r>
            <a:endParaRPr/>
          </a:p>
        </p:txBody>
      </p:sp>
      <p:sp>
        <p:nvSpPr>
          <p:cNvPr id="90" name="Google Shape;90;p14"/>
          <p:cNvSpPr txBox="1"/>
          <p:nvPr>
            <p:ph idx="1" type="body"/>
          </p:nvPr>
        </p:nvSpPr>
        <p:spPr>
          <a:xfrm>
            <a:off x="463500" y="1165950"/>
            <a:ext cx="82170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8610" lvl="0" marL="457200" rtl="0" algn="l">
              <a:spcBef>
                <a:spcPts val="360"/>
              </a:spcBef>
              <a:spcAft>
                <a:spcPts val="0"/>
              </a:spcAft>
              <a:buSzPts val="1260"/>
              <a:buChar char="-"/>
            </a:pPr>
            <a:r>
              <a:rPr lang="en-US"/>
              <a:t>Design a personalized AI music mixing software to personalize music to users</a:t>
            </a:r>
            <a:br>
              <a:rPr lang="en-US"/>
            </a:b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4" title="AI Model.png"/>
          <p:cNvPicPr preferRelativeResize="0"/>
          <p:nvPr/>
        </p:nvPicPr>
        <p:blipFill rotWithShape="1">
          <a:blip r:embed="rId3">
            <a:alphaModFix/>
          </a:blip>
          <a:srcRect b="29326" l="30832" r="29445" t="28628"/>
          <a:stretch/>
        </p:blipFill>
        <p:spPr>
          <a:xfrm>
            <a:off x="1612925" y="2236125"/>
            <a:ext cx="6667325" cy="3969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469900" y="63500"/>
            <a:ext cx="8428200" cy="95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463500" y="2642500"/>
            <a:ext cx="8217000" cy="3196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000"/>
              <a:buChar char="▪"/>
            </a:pPr>
            <a:r>
              <a:rPr lang="en-US" sz="2000">
                <a:solidFill>
                  <a:srgbClr val="000000"/>
                </a:solidFill>
              </a:rPr>
              <a:t>Current music apps rely on fixed equalizers and static presets, with little personalization.</a:t>
            </a:r>
            <a:br>
              <a:rPr lang="en-US" sz="2000">
                <a:solidFill>
                  <a:srgbClr val="000000"/>
                </a:solidFill>
              </a:rPr>
            </a:b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▪"/>
            </a:pPr>
            <a:r>
              <a:rPr lang="en-US" sz="2000">
                <a:solidFill>
                  <a:srgbClr val="000000"/>
                </a:solidFill>
              </a:rPr>
              <a:t>Different listeners, different needs: neurodivergent users may be sensitive to noise, accessibility users may need clarity, and others want context-based mixes (workout vs studying).</a:t>
            </a:r>
            <a:br>
              <a:rPr lang="en-US" sz="2000">
                <a:solidFill>
                  <a:srgbClr val="000000"/>
                </a:solidFill>
              </a:rPr>
            </a:b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▪"/>
            </a:pPr>
            <a:r>
              <a:rPr lang="en-US" sz="2000">
                <a:solidFill>
                  <a:srgbClr val="000000"/>
                </a:solidFill>
              </a:rPr>
              <a:t>No system today learns and adapts in real time to a person’s preferred way of hearing music.</a:t>
            </a:r>
            <a:endParaRPr sz="2000">
              <a:solidFill>
                <a:srgbClr val="000000"/>
              </a:solidFill>
            </a:endParaRPr>
          </a:p>
          <a:p>
            <a:pPr indent="0" lvl="0" marL="13716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686975" y="1587175"/>
            <a:ext cx="70713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999999"/>
                </a:solidFill>
              </a:rPr>
              <a:t>Domain: Audio HAI</a:t>
            </a:r>
            <a:endParaRPr b="1" sz="2800"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469900" y="63500"/>
            <a:ext cx="8428200" cy="95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Research Questions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463500" y="1438175"/>
            <a:ext cx="8217000" cy="4401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1.    How do people currently use or edit audio, if they do at all?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2.    How familiar are users with audio editing or mixing tools?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3.    Which interface design feels easiest or most natural to use?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4.    What kinds of controls or feedback do users want in an audio tool?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5.    How do users think they would use a tool like MUSE?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6.    In what situations would people find MUSE most helpful?</a:t>
            </a:r>
            <a:endParaRPr sz="2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469900" y="63500"/>
            <a:ext cx="8428200" cy="95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Methods</a:t>
            </a:r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469900" y="1600200"/>
            <a:ext cx="82170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/>
              <a:t>The study used an interview-based method</a:t>
            </a:r>
            <a:r>
              <a:rPr lang="en-US" sz="2000"/>
              <a:t>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Three participants were interviewed in person, one-on-one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Supplemental data from online participants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Collected via Google Forms, stored in Google sheets</a:t>
            </a:r>
            <a:endParaRPr sz="2000"/>
          </a:p>
        </p:txBody>
      </p:sp>
      <p:pic>
        <p:nvPicPr>
          <p:cNvPr descr="Interviewing candidate isolated cartoon vector illustrations. (Provided by Getty Images)" id="114" name="Google Shape;11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5725" y="277575"/>
            <a:ext cx="2411177" cy="2412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469900" y="63500"/>
            <a:ext cx="8428200" cy="95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Design Choices</a:t>
            </a:r>
            <a:endParaRPr/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762" y="2401000"/>
            <a:ext cx="8800475" cy="21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8"/>
          <p:cNvSpPr txBox="1"/>
          <p:nvPr/>
        </p:nvSpPr>
        <p:spPr>
          <a:xfrm>
            <a:off x="286750" y="1302300"/>
            <a:ext cx="56274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D85C6"/>
                </a:solidFill>
              </a:rPr>
              <a:t>Wireframe 1 (Horizontal Slider)</a:t>
            </a:r>
            <a:endParaRPr b="1" sz="2800">
              <a:solidFill>
                <a:srgbClr val="3D85C6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type="title"/>
          </p:nvPr>
        </p:nvSpPr>
        <p:spPr>
          <a:xfrm>
            <a:off x="469900" y="63500"/>
            <a:ext cx="8428200" cy="95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Design Choices</a:t>
            </a:r>
            <a:endParaRPr/>
          </a:p>
        </p:txBody>
      </p:sp>
      <p:sp>
        <p:nvSpPr>
          <p:cNvPr id="129" name="Google Shape;129;p19"/>
          <p:cNvSpPr txBox="1"/>
          <p:nvPr/>
        </p:nvSpPr>
        <p:spPr>
          <a:xfrm>
            <a:off x="286750" y="955825"/>
            <a:ext cx="56274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D85C6"/>
                </a:solidFill>
              </a:rPr>
              <a:t>Wireframe 2 (Vertical Slider)</a:t>
            </a:r>
            <a:endParaRPr b="1" sz="2800">
              <a:solidFill>
                <a:srgbClr val="3D85C6"/>
              </a:solidFill>
            </a:endParaRPr>
          </a:p>
        </p:txBody>
      </p:sp>
      <p:pic>
        <p:nvPicPr>
          <p:cNvPr id="130" name="Google Shape;13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713" y="1768225"/>
            <a:ext cx="8886574" cy="41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469900" y="63500"/>
            <a:ext cx="8428200" cy="95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Design Choices</a:t>
            </a:r>
            <a:endParaRPr/>
          </a:p>
        </p:txBody>
      </p:sp>
      <p:sp>
        <p:nvSpPr>
          <p:cNvPr id="137" name="Google Shape;137;p20"/>
          <p:cNvSpPr txBox="1"/>
          <p:nvPr/>
        </p:nvSpPr>
        <p:spPr>
          <a:xfrm>
            <a:off x="286750" y="955825"/>
            <a:ext cx="56274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D85C6"/>
                </a:solidFill>
              </a:rPr>
              <a:t>Wireframe 3 (Knobs)</a:t>
            </a:r>
            <a:endParaRPr b="1" sz="2800">
              <a:solidFill>
                <a:srgbClr val="3D85C6"/>
              </a:solidFill>
            </a:endParaRPr>
          </a:p>
        </p:txBody>
      </p:sp>
      <p:pic>
        <p:nvPicPr>
          <p:cNvPr id="138" name="Google Shape;13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13" y="1911600"/>
            <a:ext cx="8846175" cy="273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type="title"/>
          </p:nvPr>
        </p:nvSpPr>
        <p:spPr>
          <a:xfrm>
            <a:off x="469900" y="63500"/>
            <a:ext cx="8428200" cy="95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Findings</a:t>
            </a:r>
            <a:endParaRPr/>
          </a:p>
        </p:txBody>
      </p:sp>
      <p:sp>
        <p:nvSpPr>
          <p:cNvPr id="145" name="Google Shape;145;p21"/>
          <p:cNvSpPr txBox="1"/>
          <p:nvPr>
            <p:ph idx="1" type="body"/>
          </p:nvPr>
        </p:nvSpPr>
        <p:spPr>
          <a:xfrm>
            <a:off x="469900" y="1200705"/>
            <a:ext cx="82170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</a:rPr>
              <a:t>Participants and Background</a:t>
            </a:r>
            <a:endParaRPr b="1" sz="2000">
              <a:solidFill>
                <a:srgbClr val="000000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Most participants were Master’s-level students; two PhD and two Bachelor’s participants also took part.</a:t>
            </a:r>
            <a:endParaRPr sz="2000">
              <a:solidFill>
                <a:srgbClr val="000000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Equal gender distribution; most reported no hearing impairments.</a:t>
            </a:r>
            <a:br>
              <a:rPr lang="en-US" sz="2000">
                <a:solidFill>
                  <a:srgbClr val="000000"/>
                </a:solidFill>
              </a:rPr>
            </a:br>
            <a:endParaRPr sz="2000"/>
          </a:p>
        </p:txBody>
      </p:sp>
      <p:pic>
        <p:nvPicPr>
          <p:cNvPr id="146" name="Google Shape;14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375" y="3703000"/>
            <a:ext cx="4050699" cy="251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9225" y="3478976"/>
            <a:ext cx="4198875" cy="2607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/>
          <p:nvPr>
            <p:ph type="title"/>
          </p:nvPr>
        </p:nvSpPr>
        <p:spPr>
          <a:xfrm>
            <a:off x="469900" y="63500"/>
            <a:ext cx="8428200" cy="95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Findings (cont.)</a:t>
            </a:r>
            <a:endParaRPr/>
          </a:p>
        </p:txBody>
      </p:sp>
      <p:sp>
        <p:nvSpPr>
          <p:cNvPr id="154" name="Google Shape;154;p22"/>
          <p:cNvSpPr txBox="1"/>
          <p:nvPr>
            <p:ph idx="1" type="body"/>
          </p:nvPr>
        </p:nvSpPr>
        <p:spPr>
          <a:xfrm>
            <a:off x="469900" y="1000957"/>
            <a:ext cx="82170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</a:rPr>
              <a:t>Audio Experience</a:t>
            </a:r>
            <a:endParaRPr b="1" sz="2000">
              <a:solidFill>
                <a:srgbClr val="000000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Almost all participants listen to multi-instrument audio daily (mainly music).</a:t>
            </a:r>
            <a:endParaRPr sz="2000">
              <a:solidFill>
                <a:srgbClr val="000000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Few had prior experience with audio editing tools; only a few mentioned using </a:t>
            </a:r>
            <a:r>
              <a:rPr b="1" lang="en-US" sz="2000">
                <a:solidFill>
                  <a:srgbClr val="000000"/>
                </a:solidFill>
              </a:rPr>
              <a:t>Audacity </a:t>
            </a:r>
            <a:r>
              <a:rPr lang="en-US" sz="2000">
                <a:solidFill>
                  <a:srgbClr val="000000"/>
                </a:solidFill>
              </a:rPr>
              <a:t>or </a:t>
            </a:r>
            <a:r>
              <a:rPr b="1" lang="en-US" sz="2000">
                <a:solidFill>
                  <a:srgbClr val="000000"/>
                </a:solidFill>
              </a:rPr>
              <a:t>GarageBand</a:t>
            </a:r>
            <a:r>
              <a:rPr lang="en-US" sz="2000">
                <a:solidFill>
                  <a:srgbClr val="000000"/>
                </a:solidFill>
              </a:rPr>
              <a:t>.</a:t>
            </a:r>
            <a:endParaRPr sz="2000">
              <a:solidFill>
                <a:srgbClr val="000000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Engagement with audio is primarily </a:t>
            </a:r>
            <a:r>
              <a:rPr i="1" lang="en-US" sz="2000">
                <a:solidFill>
                  <a:srgbClr val="000000"/>
                </a:solidFill>
              </a:rPr>
              <a:t>consumptive</a:t>
            </a:r>
            <a:r>
              <a:rPr lang="en-US" sz="2000">
                <a:solidFill>
                  <a:srgbClr val="000000"/>
                </a:solidFill>
              </a:rPr>
              <a:t> rather than </a:t>
            </a:r>
            <a:r>
              <a:rPr i="1" lang="en-US" sz="2000">
                <a:solidFill>
                  <a:srgbClr val="000000"/>
                </a:solidFill>
              </a:rPr>
              <a:t>creative</a:t>
            </a:r>
            <a:r>
              <a:rPr lang="en-US" sz="2000">
                <a:solidFill>
                  <a:srgbClr val="000000"/>
                </a:solidFill>
              </a:rPr>
              <a:t>.</a:t>
            </a:r>
            <a:br>
              <a:rPr lang="en-US" sz="2000">
                <a:solidFill>
                  <a:srgbClr val="000000"/>
                </a:solidFill>
              </a:rPr>
            </a:b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155" name="Google Shape;15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050" y="3747850"/>
            <a:ext cx="41719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9250" y="3776425"/>
            <a:ext cx="4076700" cy="252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/>
          <p:nvPr>
            <p:ph type="title"/>
          </p:nvPr>
        </p:nvSpPr>
        <p:spPr>
          <a:xfrm>
            <a:off x="469900" y="63500"/>
            <a:ext cx="8428200" cy="95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Findings (cont.)</a:t>
            </a:r>
            <a:endParaRPr/>
          </a:p>
        </p:txBody>
      </p:sp>
      <p:sp>
        <p:nvSpPr>
          <p:cNvPr id="163" name="Google Shape;163;p23"/>
          <p:cNvSpPr txBox="1"/>
          <p:nvPr>
            <p:ph idx="1" type="body"/>
          </p:nvPr>
        </p:nvSpPr>
        <p:spPr>
          <a:xfrm>
            <a:off x="469900" y="907742"/>
            <a:ext cx="82170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</a:rPr>
              <a:t>Interface Preference</a:t>
            </a:r>
            <a:endParaRPr b="1" sz="2000">
              <a:solidFill>
                <a:srgbClr val="000000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b="1" lang="en-US" sz="2000">
                <a:solidFill>
                  <a:srgbClr val="000000"/>
                </a:solidFill>
              </a:rPr>
              <a:t>Vertical sliders (Wireframe 2) </a:t>
            </a:r>
            <a:r>
              <a:rPr lang="en-US" sz="2000">
                <a:solidFill>
                  <a:srgbClr val="000000"/>
                </a:solidFill>
              </a:rPr>
              <a:t>were strongly preferred for their familiarity and perceived precision.</a:t>
            </a:r>
            <a:endParaRPr sz="2000">
              <a:solidFill>
                <a:srgbClr val="000000"/>
              </a:solidFill>
            </a:endParaRPr>
          </a:p>
          <a:p>
            <a:pPr indent="-355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▪"/>
            </a:pPr>
            <a:r>
              <a:rPr lang="en-US">
                <a:solidFill>
                  <a:srgbClr val="000000"/>
                </a:solidFill>
              </a:rPr>
              <a:t>Strong</a:t>
            </a:r>
            <a:r>
              <a:rPr lang="en-US" sz="2000">
                <a:solidFill>
                  <a:srgbClr val="000000"/>
                </a:solidFill>
              </a:rPr>
              <a:t> associat</a:t>
            </a:r>
            <a:r>
              <a:rPr lang="en-US">
                <a:solidFill>
                  <a:srgbClr val="000000"/>
                </a:solidFill>
              </a:rPr>
              <a:t>ion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>
                <a:solidFill>
                  <a:srgbClr val="000000"/>
                </a:solidFill>
              </a:rPr>
              <a:t>to</a:t>
            </a:r>
            <a:r>
              <a:rPr lang="en-US" sz="2000">
                <a:solidFill>
                  <a:srgbClr val="000000"/>
                </a:solidFill>
              </a:rPr>
              <a:t> professional software like </a:t>
            </a:r>
            <a:r>
              <a:rPr b="1" lang="en-US" sz="2000">
                <a:solidFill>
                  <a:srgbClr val="000000"/>
                </a:solidFill>
              </a:rPr>
              <a:t>GarageBand</a:t>
            </a:r>
            <a:r>
              <a:rPr lang="en-US" sz="2000">
                <a:solidFill>
                  <a:srgbClr val="000000"/>
                </a:solidFill>
              </a:rPr>
              <a:t> or physical </a:t>
            </a:r>
            <a:r>
              <a:rPr lang="en-US">
                <a:solidFill>
                  <a:srgbClr val="000000"/>
                </a:solidFill>
              </a:rPr>
              <a:t>hardware</a:t>
            </a:r>
            <a:r>
              <a:rPr lang="en-US" sz="2000">
                <a:solidFill>
                  <a:srgbClr val="000000"/>
                </a:solidFill>
              </a:rPr>
              <a:t>.</a:t>
            </a:r>
            <a:endParaRPr sz="2000">
              <a:solidFill>
                <a:srgbClr val="000000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Knob and horizontal slider layouts were viewed as less intuitive or harder to control.</a:t>
            </a:r>
            <a:br>
              <a:rPr lang="en-US" sz="2000">
                <a:solidFill>
                  <a:srgbClr val="000000"/>
                </a:solidFill>
              </a:rPr>
            </a:br>
            <a:endParaRPr sz="2000"/>
          </a:p>
        </p:txBody>
      </p:sp>
      <p:pic>
        <p:nvPicPr>
          <p:cNvPr id="164" name="Google Shape;16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6650" y="3667950"/>
            <a:ext cx="4210050" cy="26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/>
          <p:nvPr>
            <p:ph type="title"/>
          </p:nvPr>
        </p:nvSpPr>
        <p:spPr>
          <a:xfrm>
            <a:off x="469900" y="63500"/>
            <a:ext cx="8428200" cy="95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Findings (cont.)</a:t>
            </a:r>
            <a:endParaRPr/>
          </a:p>
        </p:txBody>
      </p:sp>
      <p:sp>
        <p:nvSpPr>
          <p:cNvPr id="171" name="Google Shape;171;p24"/>
          <p:cNvSpPr txBox="1"/>
          <p:nvPr>
            <p:ph idx="1" type="body"/>
          </p:nvPr>
        </p:nvSpPr>
        <p:spPr>
          <a:xfrm>
            <a:off x="469900" y="1600200"/>
            <a:ext cx="82170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</a:rPr>
              <a:t>Usability and Design Feedback</a:t>
            </a:r>
            <a:endParaRPr b="1" sz="2000">
              <a:solidFill>
                <a:srgbClr val="000000"/>
              </a:solidFill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Simplicity and clarity were valued over advanced functionality.</a:t>
            </a:r>
            <a:endParaRPr sz="2000">
              <a:solidFill>
                <a:srgbClr val="000000"/>
              </a:solidFill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Participants appreciated straightforward features like </a:t>
            </a:r>
            <a:r>
              <a:rPr b="1" lang="en-US" sz="2000">
                <a:solidFill>
                  <a:srgbClr val="000000"/>
                </a:solidFill>
              </a:rPr>
              <a:t>volume</a:t>
            </a:r>
            <a:r>
              <a:rPr lang="en-US" sz="2000">
                <a:solidFill>
                  <a:srgbClr val="000000"/>
                </a:solidFill>
              </a:rPr>
              <a:t>, </a:t>
            </a:r>
            <a:r>
              <a:rPr b="1" lang="en-US" sz="2000">
                <a:solidFill>
                  <a:srgbClr val="000000"/>
                </a:solidFill>
              </a:rPr>
              <a:t>mute</a:t>
            </a:r>
            <a:r>
              <a:rPr lang="en-US" sz="2000">
                <a:solidFill>
                  <a:srgbClr val="000000"/>
                </a:solidFill>
              </a:rPr>
              <a:t>, and </a:t>
            </a:r>
            <a:r>
              <a:rPr b="1" lang="en-US" sz="2000">
                <a:solidFill>
                  <a:srgbClr val="000000"/>
                </a:solidFill>
              </a:rPr>
              <a:t>audio upload</a:t>
            </a:r>
            <a:r>
              <a:rPr lang="en-US" sz="2000">
                <a:solidFill>
                  <a:srgbClr val="000000"/>
                </a:solidFill>
              </a:rPr>
              <a:t>.</a:t>
            </a:r>
            <a:endParaRPr sz="2000">
              <a:solidFill>
                <a:srgbClr val="000000"/>
              </a:solidFill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Visual feedback (e.g., real-time level indicators or waveforms) was repeatedly mentioned as important.</a:t>
            </a:r>
            <a:endParaRPr sz="2000">
              <a:solidFill>
                <a:srgbClr val="000000"/>
              </a:solidFill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Many wanted the interface to “feel responsive” and provide visible confirmation of changes.</a:t>
            </a:r>
            <a:endParaRPr b="1" sz="2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 txBox="1"/>
          <p:nvPr>
            <p:ph type="title"/>
          </p:nvPr>
        </p:nvSpPr>
        <p:spPr>
          <a:xfrm>
            <a:off x="469900" y="63500"/>
            <a:ext cx="8428200" cy="95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Findings (cont.)</a:t>
            </a:r>
            <a:endParaRPr/>
          </a:p>
        </p:txBody>
      </p:sp>
      <p:sp>
        <p:nvSpPr>
          <p:cNvPr id="178" name="Google Shape;178;p25"/>
          <p:cNvSpPr txBox="1"/>
          <p:nvPr>
            <p:ph idx="1" type="body"/>
          </p:nvPr>
        </p:nvSpPr>
        <p:spPr>
          <a:xfrm>
            <a:off x="469900" y="1600200"/>
            <a:ext cx="82170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</a:rPr>
              <a:t>Perceived Use Cases</a:t>
            </a:r>
            <a:br>
              <a:rPr b="1" lang="en-US" sz="2000">
                <a:solidFill>
                  <a:srgbClr val="000000"/>
                </a:solidFill>
              </a:rPr>
            </a:br>
            <a:endParaRPr b="1" sz="2000">
              <a:solidFill>
                <a:srgbClr val="000000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Common examples included </a:t>
            </a:r>
            <a:r>
              <a:rPr b="1" lang="en-US" sz="2000">
                <a:solidFill>
                  <a:srgbClr val="000000"/>
                </a:solidFill>
              </a:rPr>
              <a:t>boosting lecture recordings</a:t>
            </a:r>
            <a:r>
              <a:rPr lang="en-US" sz="2000">
                <a:solidFill>
                  <a:srgbClr val="000000"/>
                </a:solidFill>
              </a:rPr>
              <a:t>, </a:t>
            </a:r>
            <a:r>
              <a:rPr b="1" lang="en-US" sz="2000">
                <a:solidFill>
                  <a:srgbClr val="000000"/>
                </a:solidFill>
              </a:rPr>
              <a:t>creating karaoke tracks</a:t>
            </a:r>
            <a:r>
              <a:rPr lang="en-US" sz="2000">
                <a:solidFill>
                  <a:srgbClr val="000000"/>
                </a:solidFill>
              </a:rPr>
              <a:t>, and </a:t>
            </a:r>
            <a:r>
              <a:rPr b="1" lang="en-US" sz="2000">
                <a:solidFill>
                  <a:srgbClr val="000000"/>
                </a:solidFill>
              </a:rPr>
              <a:t>improving audiobook clarity</a:t>
            </a:r>
            <a:r>
              <a:rPr lang="en-US" sz="2000">
                <a:solidFill>
                  <a:srgbClr val="000000"/>
                </a:solidFill>
              </a:rPr>
              <a:t>.</a:t>
            </a:r>
            <a:br>
              <a:rPr lang="en-US" sz="2000">
                <a:solidFill>
                  <a:srgbClr val="000000"/>
                </a:solidFill>
              </a:rPr>
            </a:br>
            <a:endParaRPr sz="2000">
              <a:solidFill>
                <a:srgbClr val="000000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Participants saw MUSE as a lightweight enhancement tool rather than a full professional editor.</a:t>
            </a:r>
            <a:br>
              <a:rPr lang="en-US" sz="2000">
                <a:solidFill>
                  <a:srgbClr val="000000"/>
                </a:solidFill>
              </a:rPr>
            </a:b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 txBox="1"/>
          <p:nvPr>
            <p:ph type="title"/>
          </p:nvPr>
        </p:nvSpPr>
        <p:spPr>
          <a:xfrm>
            <a:off x="469900" y="63500"/>
            <a:ext cx="8428200" cy="95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Design Implications</a:t>
            </a:r>
            <a:endParaRPr/>
          </a:p>
        </p:txBody>
      </p:sp>
      <p:sp>
        <p:nvSpPr>
          <p:cNvPr id="185" name="Google Shape;185;p26"/>
          <p:cNvSpPr txBox="1"/>
          <p:nvPr>
            <p:ph idx="1" type="body"/>
          </p:nvPr>
        </p:nvSpPr>
        <p:spPr>
          <a:xfrm>
            <a:off x="469900" y="1600200"/>
            <a:ext cx="82170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Char char="▪"/>
            </a:pPr>
            <a:r>
              <a:rPr lang="en-US" sz="2000">
                <a:solidFill>
                  <a:srgbClr val="000000"/>
                </a:solidFill>
              </a:rPr>
              <a:t>Use vertical sliders as the default control scheme.</a:t>
            </a:r>
            <a:br>
              <a:rPr lang="en-US" sz="2000">
                <a:solidFill>
                  <a:srgbClr val="000000"/>
                </a:solidFill>
              </a:rPr>
            </a:b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▪"/>
            </a:pPr>
            <a:r>
              <a:rPr lang="en-US" sz="2000">
                <a:solidFill>
                  <a:srgbClr val="000000"/>
                </a:solidFill>
              </a:rPr>
              <a:t>Maintain a clean, minimal layout with strong visual feedback.</a:t>
            </a:r>
            <a:br>
              <a:rPr lang="en-US" sz="2000">
                <a:solidFill>
                  <a:srgbClr val="000000"/>
                </a:solidFill>
              </a:rPr>
            </a:b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▪"/>
            </a:pPr>
            <a:r>
              <a:rPr lang="en-US" sz="2000">
                <a:solidFill>
                  <a:srgbClr val="000000"/>
                </a:solidFill>
              </a:rPr>
              <a:t>Prioritize ease of entry for casual users; advanced features can be optional.</a:t>
            </a:r>
            <a:br>
              <a:rPr lang="en-US" sz="2000">
                <a:solidFill>
                  <a:srgbClr val="000000"/>
                </a:solidFill>
              </a:rPr>
            </a:br>
            <a:endParaRPr sz="2000"/>
          </a:p>
        </p:txBody>
      </p:sp>
      <p:pic>
        <p:nvPicPr>
          <p:cNvPr descr="Guy asking question, dilemma concept, teen standing near question and exclamation mark (Provided by Getty Images)" id="186" name="Google Shape;18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3700526"/>
            <a:ext cx="4137902" cy="258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>
            <p:ph type="title"/>
          </p:nvPr>
        </p:nvSpPr>
        <p:spPr>
          <a:xfrm>
            <a:off x="469900" y="63500"/>
            <a:ext cx="8428200" cy="95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Functional Requirements</a:t>
            </a:r>
            <a:endParaRPr/>
          </a:p>
        </p:txBody>
      </p:sp>
      <p:sp>
        <p:nvSpPr>
          <p:cNvPr id="193" name="Google Shape;193;p27"/>
          <p:cNvSpPr txBox="1"/>
          <p:nvPr>
            <p:ph idx="1" type="body"/>
          </p:nvPr>
        </p:nvSpPr>
        <p:spPr>
          <a:xfrm>
            <a:off x="469900" y="1600200"/>
            <a:ext cx="82170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Upload audio files (e.g., MP3, WAV) from the user’s device</a:t>
            </a:r>
            <a:br>
              <a:rPr lang="en-US" sz="2000"/>
            </a:b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Separate audio into components — vocals, instrumentals, background layers</a:t>
            </a:r>
            <a:br>
              <a:rPr lang="en-US" sz="2000"/>
            </a:b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Adjust individual track levels through the chosen interface (sliders, knobs, etc.)</a:t>
            </a:r>
            <a:br>
              <a:rPr lang="en-US" sz="2000"/>
            </a:b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Provide real-time preview of adjustments before exporting</a:t>
            </a:r>
            <a:br>
              <a:rPr lang="en-US" sz="2000"/>
            </a:b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Save the setting for future use</a:t>
            </a:r>
            <a:br>
              <a:rPr lang="en-US" sz="2000"/>
            </a:br>
            <a:endParaRPr sz="20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descr="Man with to do list 2D vector isolated illustration (Provided by Getty Images)" id="194" name="Google Shape;19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7750" y="207774"/>
            <a:ext cx="2089149" cy="139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"/>
          <p:cNvSpPr txBox="1"/>
          <p:nvPr>
            <p:ph idx="1" type="body"/>
          </p:nvPr>
        </p:nvSpPr>
        <p:spPr>
          <a:xfrm>
            <a:off x="469900" y="1320553"/>
            <a:ext cx="82170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The interface should be simple and intuitive for users with little or no audio-editing experience.</a:t>
            </a:r>
            <a:br>
              <a:rPr lang="en-US" sz="2000"/>
            </a:b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Provide immediate visual and auditory feedback when adjustments are made.</a:t>
            </a:r>
            <a:br>
              <a:rPr lang="en-US" sz="2000"/>
            </a:b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Enable smooth, low-latency interaction for real-time control.</a:t>
            </a:r>
            <a:br>
              <a:rPr lang="en-US" sz="2000"/>
            </a:b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Maintain a clean, uncluttered layout that highlights main controls.</a:t>
            </a:r>
            <a:endParaRPr sz="20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solidFill>
                  <a:schemeClr val="dk1"/>
                </a:solidFill>
              </a:rPr>
              <a:t>Support users with different hearing or visual needs through clear visuals and contrast options.</a:t>
            </a:r>
            <a:endParaRPr sz="2000"/>
          </a:p>
        </p:txBody>
      </p:sp>
      <p:sp>
        <p:nvSpPr>
          <p:cNvPr id="201" name="Google Shape;201;p28"/>
          <p:cNvSpPr txBox="1"/>
          <p:nvPr>
            <p:ph type="title"/>
          </p:nvPr>
        </p:nvSpPr>
        <p:spPr>
          <a:xfrm>
            <a:off x="469900" y="63500"/>
            <a:ext cx="8428200" cy="95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UX Requirements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